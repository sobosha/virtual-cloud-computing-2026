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side_band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14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teal_stripe"/>
          <p:cNvSpPr/>
          <p:nvPr/>
        </p:nvSpPr>
        <p:spPr>
          <a:xfrm>
            <a:off x="1536192" y="0"/>
            <a:ext cx="73152" cy="685800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ECOR_circle"/>
          <p:cNvSpPr/>
          <p:nvPr/>
        </p:nvSpPr>
        <p:spPr>
          <a:xfrm>
            <a:off x="8778240" y="-1005840"/>
            <a:ext cx="4206240" cy="4206240"/>
          </a:xfrm>
          <a:prstGeom prst="ellipse">
            <a:avLst/>
          </a:prstGeom>
          <a:solidFill>
            <a:srgbClr val="173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ECOR_circle"/>
          <p:cNvSpPr/>
          <p:nvPr/>
        </p:nvSpPr>
        <p:spPr>
          <a:xfrm>
            <a:off x="9829800" y="4297680"/>
            <a:ext cx="3108960" cy="3108960"/>
          </a:xfrm>
          <a:prstGeom prst="ellipse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ONTENT_label"/>
          <p:cNvSpPr txBox="1"/>
          <p:nvPr/>
        </p:nvSpPr>
        <p:spPr>
          <a:xfrm>
            <a:off x="2148840" y="804672"/>
            <a:ext cx="3749039" cy="21698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50" b="1" dirty="0">
                <a:solidFill>
                  <a:srgbClr val="20C997"/>
                </a:solidFill>
                <a:latin typeface="Aptos"/>
              </a:rPr>
              <a:t>FINAL PROJECT</a:t>
            </a:r>
          </a:p>
        </p:txBody>
      </p:sp>
      <p:sp>
        <p:nvSpPr>
          <p:cNvPr id="8" name="CONTENT_cover_title"/>
          <p:cNvSpPr txBox="1"/>
          <p:nvPr/>
        </p:nvSpPr>
        <p:spPr>
          <a:xfrm>
            <a:off x="2121408" y="1325880"/>
            <a:ext cx="6812280" cy="5786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US" sz="3400" b="1" dirty="0">
                <a:solidFill>
                  <a:srgbClr val="FFFFFF"/>
                </a:solidFill>
                <a:latin typeface="Aptos Display"/>
              </a:rPr>
              <a:t>Virtual Cloud Computing</a:t>
            </a:r>
            <a:endParaRPr sz="3400" b="1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10" name="CONTENT_info_panel"/>
          <p:cNvSpPr/>
          <p:nvPr/>
        </p:nvSpPr>
        <p:spPr>
          <a:xfrm>
            <a:off x="2148840" y="4279392"/>
            <a:ext cx="7863840" cy="1325880"/>
          </a:xfrm>
          <a:prstGeom prst="roundRect">
            <a:avLst/>
          </a:prstGeom>
          <a:solidFill>
            <a:srgbClr val="F5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CONTENT_info_key"/>
          <p:cNvSpPr txBox="1"/>
          <p:nvPr/>
        </p:nvSpPr>
        <p:spPr>
          <a:xfrm>
            <a:off x="2436876" y="4734163"/>
            <a:ext cx="14173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780" b="1">
                <a:solidFill>
                  <a:srgbClr val="60778F"/>
                </a:solidFill>
                <a:latin typeface="Aptos"/>
              </a:rPr>
              <a:t>GROUP MEMBERS</a:t>
            </a:r>
          </a:p>
        </p:txBody>
      </p:sp>
      <p:sp>
        <p:nvSpPr>
          <p:cNvPr id="13" name="CONTENT_info_key"/>
          <p:cNvSpPr txBox="1"/>
          <p:nvPr/>
        </p:nvSpPr>
        <p:spPr>
          <a:xfrm>
            <a:off x="2446020" y="4481006"/>
            <a:ext cx="1417320" cy="17543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US" sz="780" b="1" dirty="0">
                <a:solidFill>
                  <a:srgbClr val="60778F"/>
                </a:solidFill>
                <a:latin typeface="Aptos"/>
              </a:rPr>
              <a:t>Professors</a:t>
            </a:r>
            <a:endParaRPr sz="780" b="1" dirty="0">
              <a:solidFill>
                <a:srgbClr val="60778F"/>
              </a:solidFill>
              <a:latin typeface="Aptos"/>
            </a:endParaRPr>
          </a:p>
        </p:txBody>
      </p:sp>
      <p:sp>
        <p:nvSpPr>
          <p:cNvPr id="15" name="CONTENT_info_key"/>
          <p:cNvSpPr txBox="1"/>
          <p:nvPr/>
        </p:nvSpPr>
        <p:spPr>
          <a:xfrm>
            <a:off x="2423160" y="4974336"/>
            <a:ext cx="14173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780" b="1">
                <a:solidFill>
                  <a:srgbClr val="60778F"/>
                </a:solidFill>
                <a:latin typeface="Aptos"/>
              </a:rPr>
              <a:t>ACADEMIC YEAR</a:t>
            </a:r>
          </a:p>
        </p:txBody>
      </p:sp>
      <p:sp>
        <p:nvSpPr>
          <p:cNvPr id="16" name="CONTENT_info_val"/>
          <p:cNvSpPr txBox="1"/>
          <p:nvPr/>
        </p:nvSpPr>
        <p:spPr>
          <a:xfrm>
            <a:off x="3886200" y="4965192"/>
            <a:ext cx="544068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80" b="0">
                <a:solidFill>
                  <a:srgbClr val="1D2B3C"/>
                </a:solidFill>
                <a:latin typeface="Aptos"/>
              </a:rPr>
              <a:t>2025/2026</a:t>
            </a:r>
          </a:p>
        </p:txBody>
      </p:sp>
      <p:sp>
        <p:nvSpPr>
          <p:cNvPr id="17" name="CONTENT_info_key"/>
          <p:cNvSpPr txBox="1"/>
          <p:nvPr/>
        </p:nvSpPr>
        <p:spPr>
          <a:xfrm>
            <a:off x="2423160" y="5239512"/>
            <a:ext cx="141732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780" b="1" dirty="0">
                <a:solidFill>
                  <a:srgbClr val="60778F"/>
                </a:solidFill>
                <a:latin typeface="Aptos"/>
              </a:rPr>
              <a:t>UNIVERSITY</a:t>
            </a:r>
          </a:p>
        </p:txBody>
      </p:sp>
      <p:sp>
        <p:nvSpPr>
          <p:cNvPr id="18" name="CONTENT_info_val"/>
          <p:cNvSpPr txBox="1"/>
          <p:nvPr/>
        </p:nvSpPr>
        <p:spPr>
          <a:xfrm>
            <a:off x="3886200" y="5230368"/>
            <a:ext cx="5440680" cy="2215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80" b="0" dirty="0">
                <a:solidFill>
                  <a:srgbClr val="1D2B3C"/>
                </a:solidFill>
                <a:latin typeface="Aptos"/>
              </a:rPr>
              <a:t>Università di Genova</a:t>
            </a:r>
          </a:p>
        </p:txBody>
      </p:sp>
      <p:sp>
        <p:nvSpPr>
          <p:cNvPr id="19" name="DECOR_badge"/>
          <p:cNvSpPr/>
          <p:nvPr/>
        </p:nvSpPr>
        <p:spPr>
          <a:xfrm>
            <a:off x="9372600" y="1508760"/>
            <a:ext cx="1170432" cy="292608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ONTENT_badge"/>
          <p:cNvSpPr txBox="1"/>
          <p:nvPr/>
        </p:nvSpPr>
        <p:spPr>
          <a:xfrm>
            <a:off x="9445752" y="1559051"/>
            <a:ext cx="1024128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850" b="1">
                <a:solidFill>
                  <a:srgbClr val="0B1F33"/>
                </a:solidFill>
                <a:latin typeface="Aptos"/>
              </a:rPr>
              <a:t>Docker Swarm</a:t>
            </a:r>
          </a:p>
        </p:txBody>
      </p:sp>
      <p:sp>
        <p:nvSpPr>
          <p:cNvPr id="21" name="DECOR_badge"/>
          <p:cNvSpPr/>
          <p:nvPr/>
        </p:nvSpPr>
        <p:spPr>
          <a:xfrm>
            <a:off x="9802368" y="1920240"/>
            <a:ext cx="1335024" cy="292608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ONTENT_badge"/>
          <p:cNvSpPr txBox="1"/>
          <p:nvPr/>
        </p:nvSpPr>
        <p:spPr>
          <a:xfrm>
            <a:off x="9875520" y="1970532"/>
            <a:ext cx="1188720" cy="18620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lang="en-US" sz="850" b="1" dirty="0">
                <a:solidFill>
                  <a:srgbClr val="0B1F33"/>
                </a:solidFill>
                <a:latin typeface="Aptos"/>
              </a:rPr>
              <a:t>Ansible</a:t>
            </a:r>
            <a:endParaRPr sz="85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3" name="DECOR_badge"/>
          <p:cNvSpPr/>
          <p:nvPr/>
        </p:nvSpPr>
        <p:spPr>
          <a:xfrm>
            <a:off x="9070848" y="2331720"/>
            <a:ext cx="1664208" cy="292608"/>
          </a:xfrm>
          <a:prstGeom prst="roundRect">
            <a:avLst/>
          </a:prstGeom>
          <a:solidFill>
            <a:srgbClr val="98C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ONTENT_badge"/>
          <p:cNvSpPr txBox="1"/>
          <p:nvPr/>
        </p:nvSpPr>
        <p:spPr>
          <a:xfrm>
            <a:off x="9144000" y="2382012"/>
            <a:ext cx="1517904" cy="18620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lang="en-US" sz="850" b="1" dirty="0" err="1">
                <a:solidFill>
                  <a:srgbClr val="0B1F33"/>
                </a:solidFill>
                <a:latin typeface="Aptos"/>
              </a:rPr>
              <a:t>Forgejo</a:t>
            </a:r>
            <a:endParaRPr sz="850" b="1" dirty="0">
              <a:solidFill>
                <a:srgbClr val="0B1F33"/>
              </a:solidFill>
              <a:latin typeface="Aptos"/>
            </a:endParaRPr>
          </a:p>
        </p:txBody>
      </p:sp>
      <p:sp>
        <p:nvSpPr>
          <p:cNvPr id="25" name="CONTENT_slide_num"/>
          <p:cNvSpPr txBox="1"/>
          <p:nvPr/>
        </p:nvSpPr>
        <p:spPr>
          <a:xfrm>
            <a:off x="10881360" y="6172200"/>
            <a:ext cx="502920" cy="2560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150" b="1">
                <a:solidFill>
                  <a:srgbClr val="20C997"/>
                </a:solidFill>
                <a:latin typeface="Aptos"/>
              </a:rPr>
              <a:t>01</a:t>
            </a:r>
          </a:p>
        </p:txBody>
      </p:sp>
      <p:sp>
        <p:nvSpPr>
          <p:cNvPr id="30" name="CONTENT_info_val">
            <a:extLst>
              <a:ext uri="{FF2B5EF4-FFF2-40B4-BE49-F238E27FC236}">
                <a16:creationId xmlns:a16="http://schemas.microsoft.com/office/drawing/2014/main" id="{A8F1ACE7-A94A-E8BB-5D76-4EF34D5A834D}"/>
              </a:ext>
            </a:extLst>
          </p:cNvPr>
          <p:cNvSpPr txBox="1"/>
          <p:nvPr/>
        </p:nvSpPr>
        <p:spPr>
          <a:xfrm>
            <a:off x="3886200" y="4738616"/>
            <a:ext cx="5440680" cy="2215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US" sz="1080" b="0" dirty="0">
                <a:solidFill>
                  <a:srgbClr val="1D2B3C"/>
                </a:solidFill>
                <a:latin typeface="Aptos"/>
              </a:rPr>
              <a:t>Sobhan </a:t>
            </a:r>
            <a:r>
              <a:rPr lang="en-US" sz="1080" b="0" dirty="0" err="1">
                <a:solidFill>
                  <a:srgbClr val="1D2B3C"/>
                </a:solidFill>
                <a:latin typeface="Aptos"/>
              </a:rPr>
              <a:t>Bazoubandi</a:t>
            </a:r>
            <a:endParaRPr sz="1080" b="0" dirty="0">
              <a:solidFill>
                <a:srgbClr val="1D2B3C"/>
              </a:solidFill>
              <a:latin typeface="Aptos"/>
            </a:endParaRPr>
          </a:p>
        </p:txBody>
      </p:sp>
      <p:sp>
        <p:nvSpPr>
          <p:cNvPr id="31" name="CONTENT_info_val">
            <a:extLst>
              <a:ext uri="{FF2B5EF4-FFF2-40B4-BE49-F238E27FC236}">
                <a16:creationId xmlns:a16="http://schemas.microsoft.com/office/drawing/2014/main" id="{130A844C-1353-A732-777F-20F38D9E6100}"/>
              </a:ext>
            </a:extLst>
          </p:cNvPr>
          <p:cNvSpPr txBox="1"/>
          <p:nvPr/>
        </p:nvSpPr>
        <p:spPr>
          <a:xfrm>
            <a:off x="3886200" y="4457922"/>
            <a:ext cx="5440680" cy="2215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lang="en-US" sz="1080" dirty="0">
                <a:solidFill>
                  <a:srgbClr val="1D2B3C"/>
                </a:solidFill>
                <a:latin typeface="Aptos"/>
              </a:rPr>
              <a:t>Enrico Russo – Giacomo Longo</a:t>
            </a:r>
            <a:endParaRPr sz="1080" b="0" dirty="0">
              <a:solidFill>
                <a:srgbClr val="1D2B3C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header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accent_line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_section"/>
          <p:cNvSpPr txBox="1"/>
          <p:nvPr/>
        </p:nvSpPr>
        <p:spPr>
          <a:xfrm>
            <a:off x="566928" y="91440"/>
            <a:ext cx="17373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>
                <a:solidFill>
                  <a:srgbClr val="20C997"/>
                </a:solidFill>
                <a:latin typeface="Aptos"/>
              </a:rPr>
              <a:t>PROJECT OVERVIEW</a:t>
            </a:r>
          </a:p>
        </p:txBody>
      </p:sp>
      <p:sp>
        <p:nvSpPr>
          <p:cNvPr id="6" name="CONTENT_title"/>
          <p:cNvSpPr txBox="1"/>
          <p:nvPr/>
        </p:nvSpPr>
        <p:spPr>
          <a:xfrm>
            <a:off x="566928" y="338328"/>
            <a:ext cx="740664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 Display"/>
              </a:rPr>
              <a:t>Infrastructure Architecture</a:t>
            </a:r>
          </a:p>
        </p:txBody>
      </p:sp>
      <p:sp>
        <p:nvSpPr>
          <p:cNvPr id="8" name="CONTENT_slide_num"/>
          <p:cNvSpPr txBox="1"/>
          <p:nvPr/>
        </p:nvSpPr>
        <p:spPr>
          <a:xfrm>
            <a:off x="11475720" y="182880"/>
            <a:ext cx="3200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050" b="1">
                <a:solidFill>
                  <a:srgbClr val="20C997"/>
                </a:solidFill>
                <a:latin typeface="Aptos"/>
              </a:rPr>
              <a:t>02</a:t>
            </a:r>
          </a:p>
        </p:txBody>
      </p:sp>
      <p:sp>
        <p:nvSpPr>
          <p:cNvPr id="9" name="CONTENT_footer"/>
          <p:cNvSpPr txBox="1"/>
          <p:nvPr/>
        </p:nvSpPr>
        <p:spPr>
          <a:xfrm>
            <a:off x="566928" y="6556248"/>
            <a:ext cx="4114800" cy="1908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" b="0" dirty="0">
                <a:solidFill>
                  <a:srgbClr val="60778F"/>
                </a:solidFill>
                <a:latin typeface="Aptos"/>
              </a:rPr>
              <a:t>Virtual Cloud </a:t>
            </a:r>
            <a:r>
              <a:rPr lang="en-US" sz="880" b="0" dirty="0">
                <a:solidFill>
                  <a:srgbClr val="60778F"/>
                </a:solidFill>
                <a:latin typeface="Aptos"/>
              </a:rPr>
              <a:t>Computing</a:t>
            </a:r>
            <a:r>
              <a:rPr sz="880" b="0" dirty="0">
                <a:solidFill>
                  <a:srgbClr val="60778F"/>
                </a:solidFill>
                <a:latin typeface="Aptos"/>
              </a:rPr>
              <a:t> · Final Project</a:t>
            </a:r>
          </a:p>
        </p:txBody>
      </p:sp>
      <p:sp>
        <p:nvSpPr>
          <p:cNvPr id="10" name="CONTENT_footer_right"/>
          <p:cNvSpPr txBox="1"/>
          <p:nvPr/>
        </p:nvSpPr>
        <p:spPr>
          <a:xfrm>
            <a:off x="9235440" y="6556248"/>
            <a:ext cx="23317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80" b="0">
                <a:solidFill>
                  <a:srgbClr val="60778F"/>
                </a:solidFill>
                <a:latin typeface="Aptos"/>
              </a:rPr>
              <a:t>Università di Genova</a:t>
            </a:r>
          </a:p>
        </p:txBody>
      </p:sp>
      <p:sp>
        <p:nvSpPr>
          <p:cNvPr id="11" name="DECOR_label_line"/>
          <p:cNvSpPr/>
          <p:nvPr/>
        </p:nvSpPr>
        <p:spPr>
          <a:xfrm>
            <a:off x="566928" y="1088136"/>
            <a:ext cx="384048" cy="4114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TENT_label"/>
          <p:cNvSpPr txBox="1"/>
          <p:nvPr/>
        </p:nvSpPr>
        <p:spPr>
          <a:xfrm>
            <a:off x="1024128" y="1024128"/>
            <a:ext cx="23774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60" b="1">
                <a:solidFill>
                  <a:srgbClr val="60778F"/>
                </a:solidFill>
                <a:latin typeface="Aptos"/>
              </a:rPr>
              <a:t>DEPLOYMENT LOGIC</a:t>
            </a:r>
          </a:p>
        </p:txBody>
      </p:sp>
      <p:sp>
        <p:nvSpPr>
          <p:cNvPr id="13" name="CONTENT_bullets_slide2"/>
          <p:cNvSpPr txBox="1"/>
          <p:nvPr/>
        </p:nvSpPr>
        <p:spPr>
          <a:xfrm>
            <a:off x="566928" y="1417320"/>
            <a:ext cx="5303520" cy="4343400"/>
          </a:xfrm>
          <a:prstGeom prst="rect">
            <a:avLst/>
          </a:prstGeom>
          <a:noFill/>
        </p:spPr>
        <p:txBody>
          <a:bodyPr wrap="square" lIns="64008" tIns="18288" rIns="45720" bIns="18288">
            <a:norm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500">
                <a:solidFill>
                  <a:srgbClr val="20C997"/>
                </a:solidFill>
                <a:latin typeface="Aptos"/>
              </a:rPr>
              <a:t>• </a:t>
            </a:r>
            <a:r>
              <a:rPr sz="1500" b="1">
                <a:solidFill>
                  <a:srgbClr val="1D2B3C"/>
                </a:solidFill>
                <a:latin typeface="Aptos"/>
              </a:rPr>
              <a:t>High-Availability Services: </a:t>
            </a:r>
            <a:r>
              <a:rPr sz="1500">
                <a:solidFill>
                  <a:srgbClr val="1D2B3C"/>
                </a:solidFill>
                <a:latin typeface="Aptos"/>
              </a:rPr>
              <a:t>Traefik global proxy routed via Keepalived VIP; Authelia and Forgejo deployed with 2 replicas; Postgres and Redis on a private overlay network.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500">
                <a:solidFill>
                  <a:srgbClr val="20C997"/>
                </a:solidFill>
                <a:latin typeface="Aptos"/>
              </a:rPr>
              <a:t>• </a:t>
            </a:r>
            <a:r>
              <a:rPr sz="1500" b="1">
                <a:solidFill>
                  <a:srgbClr val="1D2B3C"/>
                </a:solidFill>
                <a:latin typeface="Aptos"/>
              </a:rPr>
              <a:t>Storage Solution: </a:t>
            </a:r>
            <a:r>
              <a:rPr sz="1500">
                <a:solidFill>
                  <a:srgbClr val="1D2B3C"/>
                </a:solidFill>
                <a:latin typeface="Aptos"/>
              </a:rPr>
              <a:t>Shared data persistence across VM nodes using NFS network shares over an isolated storage network.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500">
                <a:solidFill>
                  <a:srgbClr val="20C997"/>
                </a:solidFill>
                <a:latin typeface="Aptos"/>
              </a:rPr>
              <a:t>• </a:t>
            </a:r>
            <a:r>
              <a:rPr sz="1500" b="1">
                <a:solidFill>
                  <a:srgbClr val="1D2B3C"/>
                </a:solidFill>
                <a:latin typeface="Aptos"/>
              </a:rPr>
              <a:t>Observability Architecture: </a:t>
            </a:r>
            <a:r>
              <a:rPr sz="1500">
                <a:solidFill>
                  <a:srgbClr val="1D2B3C"/>
                </a:solidFill>
                <a:latin typeface="Aptos"/>
              </a:rPr>
              <a:t>Grafana dashboards fueled by Loki log aggregation and Alloy metric scraping for services and node resources.</a:t>
            </a:r>
          </a:p>
        </p:txBody>
      </p:sp>
      <p:sp>
        <p:nvSpPr>
          <p:cNvPr id="14" name="CONTENT_visual_panel"/>
          <p:cNvSpPr/>
          <p:nvPr/>
        </p:nvSpPr>
        <p:spPr>
          <a:xfrm>
            <a:off x="6400800" y="1143000"/>
            <a:ext cx="50749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NTENT_visual_title"/>
          <p:cNvSpPr txBox="1"/>
          <p:nvPr/>
        </p:nvSpPr>
        <p:spPr>
          <a:xfrm>
            <a:off x="6629400" y="1353312"/>
            <a:ext cx="256032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20" b="1">
                <a:solidFill>
                  <a:srgbClr val="60778F"/>
                </a:solidFill>
                <a:latin typeface="Aptos"/>
              </a:rPr>
              <a:t>High-level architecture</a:t>
            </a:r>
          </a:p>
        </p:txBody>
      </p:sp>
      <p:cxnSp>
        <p:nvCxnSpPr>
          <p:cNvPr id="16" name="DECOR_connector"/>
          <p:cNvCxnSpPr/>
          <p:nvPr/>
        </p:nvCxnSpPr>
        <p:spPr>
          <a:xfrm>
            <a:off x="7424927" y="2066543"/>
            <a:ext cx="0" cy="420625"/>
          </a:xfrm>
          <a:prstGeom prst="line">
            <a:avLst/>
          </a:prstGeom>
          <a:ln w="1905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ECOR_connector"/>
          <p:cNvCxnSpPr/>
          <p:nvPr/>
        </p:nvCxnSpPr>
        <p:spPr>
          <a:xfrm>
            <a:off x="7424927" y="2999232"/>
            <a:ext cx="0" cy="502920"/>
          </a:xfrm>
          <a:prstGeom prst="line">
            <a:avLst/>
          </a:prstGeom>
          <a:ln w="1905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ECOR_connector"/>
          <p:cNvCxnSpPr/>
          <p:nvPr/>
        </p:nvCxnSpPr>
        <p:spPr>
          <a:xfrm>
            <a:off x="7424927" y="3995928"/>
            <a:ext cx="0" cy="502920"/>
          </a:xfrm>
          <a:prstGeom prst="line">
            <a:avLst/>
          </a:prstGeom>
          <a:ln w="19050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ECOR_connector"/>
          <p:cNvCxnSpPr/>
          <p:nvPr/>
        </p:nvCxnSpPr>
        <p:spPr>
          <a:xfrm>
            <a:off x="9528048" y="2999232"/>
            <a:ext cx="0" cy="502920"/>
          </a:xfrm>
          <a:prstGeom prst="line">
            <a:avLst/>
          </a:prstGeom>
          <a:ln w="19050">
            <a:solidFill>
              <a:srgbClr val="2C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ECOR_connector"/>
          <p:cNvCxnSpPr/>
          <p:nvPr/>
        </p:nvCxnSpPr>
        <p:spPr>
          <a:xfrm>
            <a:off x="9528048" y="3995928"/>
            <a:ext cx="0" cy="502920"/>
          </a:xfrm>
          <a:prstGeom prst="line">
            <a:avLst/>
          </a:prstGeom>
          <a:ln w="19050">
            <a:solidFill>
              <a:srgbClr val="2C70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TENT_node"/>
          <p:cNvSpPr/>
          <p:nvPr/>
        </p:nvSpPr>
        <p:spPr>
          <a:xfrm>
            <a:off x="6720840" y="1700784"/>
            <a:ext cx="1417320" cy="530352"/>
          </a:xfrm>
          <a:prstGeom prst="roundRect">
            <a:avLst/>
          </a:prstGeom>
          <a:solidFill>
            <a:srgbClr val="E6F8F2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VIP
Keepalived</a:t>
            </a:r>
          </a:p>
        </p:txBody>
      </p:sp>
      <p:sp>
        <p:nvSpPr>
          <p:cNvPr id="22" name="CONTENT_node"/>
          <p:cNvSpPr/>
          <p:nvPr/>
        </p:nvSpPr>
        <p:spPr>
          <a:xfrm>
            <a:off x="6638544" y="2551176"/>
            <a:ext cx="1581912" cy="621792"/>
          </a:xfrm>
          <a:prstGeom prst="roundRect">
            <a:avLst/>
          </a:prstGeom>
          <a:solidFill>
            <a:srgbClr val="E6F8F2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Traefik
Global Proxy</a:t>
            </a:r>
          </a:p>
        </p:txBody>
      </p:sp>
      <p:sp>
        <p:nvSpPr>
          <p:cNvPr id="23" name="CONTENT_node"/>
          <p:cNvSpPr/>
          <p:nvPr/>
        </p:nvSpPr>
        <p:spPr>
          <a:xfrm>
            <a:off x="6565392" y="3575304"/>
            <a:ext cx="1719072" cy="56692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 dirty="0" err="1">
                <a:solidFill>
                  <a:srgbClr val="1D2B3C"/>
                </a:solidFill>
                <a:latin typeface="Aptos"/>
              </a:rPr>
              <a:t>Authelia</a:t>
            </a:r>
            <a:r>
              <a:rPr sz="1080" b="1" dirty="0">
                <a:solidFill>
                  <a:srgbClr val="1D2B3C"/>
                </a:solidFill>
                <a:latin typeface="Aptos"/>
              </a:rPr>
              <a:t>
OIDC</a:t>
            </a:r>
          </a:p>
        </p:txBody>
      </p:sp>
      <p:sp>
        <p:nvSpPr>
          <p:cNvPr id="24" name="CONTENT_node"/>
          <p:cNvSpPr/>
          <p:nvPr/>
        </p:nvSpPr>
        <p:spPr>
          <a:xfrm>
            <a:off x="6565392" y="4590288"/>
            <a:ext cx="1719072" cy="566928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2C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 dirty="0" err="1">
                <a:solidFill>
                  <a:srgbClr val="1D2B3C"/>
                </a:solidFill>
                <a:latin typeface="Aptos"/>
              </a:rPr>
              <a:t>Forgejo</a:t>
            </a:r>
            <a:r>
              <a:rPr sz="1080" b="1" dirty="0">
                <a:solidFill>
                  <a:srgbClr val="1D2B3C"/>
                </a:solidFill>
                <a:latin typeface="Aptos"/>
              </a:rPr>
              <a:t>
Git</a:t>
            </a:r>
          </a:p>
        </p:txBody>
      </p:sp>
      <p:sp>
        <p:nvSpPr>
          <p:cNvPr id="25" name="CONTENT_node"/>
          <p:cNvSpPr/>
          <p:nvPr/>
        </p:nvSpPr>
        <p:spPr>
          <a:xfrm>
            <a:off x="8823960" y="1700784"/>
            <a:ext cx="1389888" cy="530352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Grafana</a:t>
            </a:r>
          </a:p>
        </p:txBody>
      </p:sp>
      <p:sp>
        <p:nvSpPr>
          <p:cNvPr id="26" name="CONTENT_node"/>
          <p:cNvSpPr/>
          <p:nvPr/>
        </p:nvSpPr>
        <p:spPr>
          <a:xfrm>
            <a:off x="8823960" y="2551176"/>
            <a:ext cx="1389888" cy="530352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Alloy</a:t>
            </a:r>
          </a:p>
        </p:txBody>
      </p:sp>
      <p:sp>
        <p:nvSpPr>
          <p:cNvPr id="27" name="CONTENT_node"/>
          <p:cNvSpPr/>
          <p:nvPr/>
        </p:nvSpPr>
        <p:spPr>
          <a:xfrm>
            <a:off x="8823960" y="3575304"/>
            <a:ext cx="1389888" cy="566928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Loki
Logs</a:t>
            </a:r>
          </a:p>
        </p:txBody>
      </p:sp>
      <p:sp>
        <p:nvSpPr>
          <p:cNvPr id="28" name="CONTENT_node"/>
          <p:cNvSpPr/>
          <p:nvPr/>
        </p:nvSpPr>
        <p:spPr>
          <a:xfrm>
            <a:off x="8641080" y="4590288"/>
            <a:ext cx="1755648" cy="566928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80" b="1">
                <a:solidFill>
                  <a:srgbClr val="1D2B3C"/>
                </a:solidFill>
                <a:latin typeface="Aptos"/>
              </a:rPr>
              <a:t>Postgres
Redis</a:t>
            </a:r>
          </a:p>
        </p:txBody>
      </p:sp>
      <p:sp>
        <p:nvSpPr>
          <p:cNvPr id="29" name="CONTENT_node"/>
          <p:cNvSpPr/>
          <p:nvPr/>
        </p:nvSpPr>
        <p:spPr>
          <a:xfrm>
            <a:off x="9829800" y="5468112"/>
            <a:ext cx="1124712" cy="438912"/>
          </a:xfrm>
          <a:prstGeom prst="roundRect">
            <a:avLst/>
          </a:prstGeom>
          <a:solidFill>
            <a:srgbClr val="F3F5F8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919" b="1">
                <a:solidFill>
                  <a:srgbClr val="1D2B3C"/>
                </a:solidFill>
                <a:latin typeface="Aptos"/>
              </a:rPr>
              <a:t>NFS
Storage</a:t>
            </a:r>
          </a:p>
        </p:txBody>
      </p:sp>
      <p:cxnSp>
        <p:nvCxnSpPr>
          <p:cNvPr id="30" name="DECOR_connector"/>
          <p:cNvCxnSpPr/>
          <p:nvPr/>
        </p:nvCxnSpPr>
        <p:spPr>
          <a:xfrm>
            <a:off x="9528048" y="5157216"/>
            <a:ext cx="768096" cy="292608"/>
          </a:xfrm>
          <a:prstGeom prst="line">
            <a:avLst/>
          </a:prstGeom>
          <a:ln w="13970">
            <a:solidFill>
              <a:srgbClr val="60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NTENT_overlay_label"/>
          <p:cNvSpPr txBox="1"/>
          <p:nvPr/>
        </p:nvSpPr>
        <p:spPr>
          <a:xfrm>
            <a:off x="6711696" y="5650992"/>
            <a:ext cx="283464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780" b="1">
                <a:solidFill>
                  <a:srgbClr val="60778F"/>
                </a:solidFill>
                <a:latin typeface="Aptos"/>
              </a:rPr>
              <a:t>PRIVATE OVERLAY NETWORK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header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accent_line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_section"/>
          <p:cNvSpPr txBox="1"/>
          <p:nvPr/>
        </p:nvSpPr>
        <p:spPr>
          <a:xfrm>
            <a:off x="566928" y="91440"/>
            <a:ext cx="17373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>
                <a:solidFill>
                  <a:srgbClr val="20C997"/>
                </a:solidFill>
                <a:latin typeface="Aptos"/>
              </a:rPr>
              <a:t>WHAT WE LEARNED</a:t>
            </a:r>
          </a:p>
        </p:txBody>
      </p:sp>
      <p:sp>
        <p:nvSpPr>
          <p:cNvPr id="6" name="CONTENT_title"/>
          <p:cNvSpPr txBox="1"/>
          <p:nvPr/>
        </p:nvSpPr>
        <p:spPr>
          <a:xfrm>
            <a:off x="566928" y="338328"/>
            <a:ext cx="740664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 Display"/>
              </a:rPr>
              <a:t>Core Technical Takeaways</a:t>
            </a:r>
          </a:p>
        </p:txBody>
      </p:sp>
      <p:sp>
        <p:nvSpPr>
          <p:cNvPr id="8" name="CONTENT_slide_num"/>
          <p:cNvSpPr txBox="1"/>
          <p:nvPr/>
        </p:nvSpPr>
        <p:spPr>
          <a:xfrm>
            <a:off x="11475720" y="182880"/>
            <a:ext cx="3200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050" b="1">
                <a:solidFill>
                  <a:srgbClr val="20C997"/>
                </a:solidFill>
                <a:latin typeface="Aptos"/>
              </a:rPr>
              <a:t>03</a:t>
            </a:r>
          </a:p>
        </p:txBody>
      </p:sp>
      <p:sp>
        <p:nvSpPr>
          <p:cNvPr id="9" name="CONTENT_footer"/>
          <p:cNvSpPr txBox="1"/>
          <p:nvPr/>
        </p:nvSpPr>
        <p:spPr>
          <a:xfrm>
            <a:off x="566928" y="6556248"/>
            <a:ext cx="4114800" cy="1908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" b="0" dirty="0">
                <a:solidFill>
                  <a:srgbClr val="60778F"/>
                </a:solidFill>
                <a:latin typeface="Aptos"/>
              </a:rPr>
              <a:t>Virtual Cloud </a:t>
            </a:r>
            <a:r>
              <a:rPr lang="en-US" sz="880" b="0" dirty="0">
                <a:solidFill>
                  <a:srgbClr val="60778F"/>
                </a:solidFill>
                <a:latin typeface="Aptos"/>
              </a:rPr>
              <a:t>Computing</a:t>
            </a:r>
            <a:r>
              <a:rPr sz="880" b="0" dirty="0">
                <a:solidFill>
                  <a:srgbClr val="60778F"/>
                </a:solidFill>
                <a:latin typeface="Aptos"/>
              </a:rPr>
              <a:t> · Final Project</a:t>
            </a:r>
          </a:p>
        </p:txBody>
      </p:sp>
      <p:sp>
        <p:nvSpPr>
          <p:cNvPr id="10" name="CONTENT_footer_right"/>
          <p:cNvSpPr txBox="1"/>
          <p:nvPr/>
        </p:nvSpPr>
        <p:spPr>
          <a:xfrm>
            <a:off x="9235440" y="6556248"/>
            <a:ext cx="23317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80" b="0">
                <a:solidFill>
                  <a:srgbClr val="60778F"/>
                </a:solidFill>
                <a:latin typeface="Aptos"/>
              </a:rPr>
              <a:t>Università di Genova</a:t>
            </a:r>
          </a:p>
        </p:txBody>
      </p:sp>
      <p:sp>
        <p:nvSpPr>
          <p:cNvPr id="11" name="DECOR_label_line"/>
          <p:cNvSpPr/>
          <p:nvPr/>
        </p:nvSpPr>
        <p:spPr>
          <a:xfrm>
            <a:off x="566928" y="1088136"/>
            <a:ext cx="384048" cy="4114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TENT_label"/>
          <p:cNvSpPr txBox="1"/>
          <p:nvPr/>
        </p:nvSpPr>
        <p:spPr>
          <a:xfrm>
            <a:off x="1024128" y="1024128"/>
            <a:ext cx="23774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60" b="1">
                <a:solidFill>
                  <a:srgbClr val="60778F"/>
                </a:solidFill>
                <a:latin typeface="Aptos"/>
              </a:rPr>
              <a:t>LEARNING OUTCOMES</a:t>
            </a:r>
          </a:p>
        </p:txBody>
      </p:sp>
      <p:sp>
        <p:nvSpPr>
          <p:cNvPr id="13" name="CONTENT_bullets_slide3"/>
          <p:cNvSpPr txBox="1"/>
          <p:nvPr/>
        </p:nvSpPr>
        <p:spPr>
          <a:xfrm>
            <a:off x="566928" y="1353312"/>
            <a:ext cx="5623560" cy="4480560"/>
          </a:xfrm>
          <a:prstGeom prst="rect">
            <a:avLst/>
          </a:prstGeom>
          <a:noFill/>
        </p:spPr>
        <p:txBody>
          <a:bodyPr wrap="square" lIns="64008" tIns="18288" rIns="45720" bIns="18288">
            <a:norm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2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20" b="1" dirty="0">
                <a:solidFill>
                  <a:srgbClr val="1D2B3C"/>
                </a:solidFill>
                <a:latin typeface="Aptos"/>
              </a:rPr>
              <a:t>Docker Swarm vs Compose: </a:t>
            </a:r>
            <a:r>
              <a:rPr sz="1420" dirty="0">
                <a:solidFill>
                  <a:srgbClr val="1D2B3C"/>
                </a:solidFill>
                <a:latin typeface="Aptos"/>
              </a:rPr>
              <a:t>Deployed service replicas, global placement constraints, and internal overlay networks.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2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20" b="1" dirty="0">
                <a:solidFill>
                  <a:srgbClr val="1D2B3C"/>
                </a:solidFill>
                <a:latin typeface="Aptos"/>
              </a:rPr>
              <a:t>OpenID Connect (OIDC) Flow: </a:t>
            </a:r>
            <a:r>
              <a:rPr sz="1420" dirty="0">
                <a:solidFill>
                  <a:srgbClr val="1D2B3C"/>
                </a:solidFill>
                <a:latin typeface="Aptos"/>
              </a:rPr>
              <a:t>Configured secure SSO between </a:t>
            </a:r>
            <a:r>
              <a:rPr sz="1420" dirty="0" err="1">
                <a:solidFill>
                  <a:srgbClr val="1D2B3C"/>
                </a:solidFill>
                <a:latin typeface="Aptos"/>
              </a:rPr>
              <a:t>Authelia</a:t>
            </a:r>
            <a:r>
              <a:rPr sz="1420" dirty="0">
                <a:solidFill>
                  <a:srgbClr val="1D2B3C"/>
                </a:solidFill>
                <a:latin typeface="Aptos"/>
              </a:rPr>
              <a:t> and </a:t>
            </a:r>
            <a:r>
              <a:rPr sz="1420" dirty="0" err="1">
                <a:solidFill>
                  <a:srgbClr val="1D2B3C"/>
                </a:solidFill>
                <a:latin typeface="Aptos"/>
              </a:rPr>
              <a:t>Forgejo</a:t>
            </a:r>
            <a:r>
              <a:rPr sz="1420" dirty="0">
                <a:solidFill>
                  <a:srgbClr val="1D2B3C"/>
                </a:solidFill>
                <a:latin typeface="Aptos"/>
              </a:rPr>
              <a:t>/Grafana using a 4096-bit JWKS private key.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2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20" b="1" dirty="0">
                <a:solidFill>
                  <a:srgbClr val="1D2B3C"/>
                </a:solidFill>
                <a:latin typeface="Aptos"/>
              </a:rPr>
              <a:t>Service Discovery &amp; Relabeling: </a:t>
            </a:r>
            <a:r>
              <a:rPr sz="1420" dirty="0">
                <a:solidFill>
                  <a:srgbClr val="1D2B3C"/>
                </a:solidFill>
                <a:latin typeface="Aptos"/>
              </a:rPr>
              <a:t>Wrote custom Alloy pipelines to scrape dynamically scaled Swarm containers.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2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20" b="1" dirty="0">
                <a:solidFill>
                  <a:srgbClr val="1D2B3C"/>
                </a:solidFill>
                <a:latin typeface="Aptos"/>
              </a:rPr>
              <a:t>Production Security: </a:t>
            </a:r>
            <a:r>
              <a:rPr sz="1420" dirty="0">
                <a:solidFill>
                  <a:srgbClr val="1D2B3C"/>
                </a:solidFill>
                <a:latin typeface="Aptos"/>
              </a:rPr>
              <a:t>Implemented a production-mode toggle replacing plain-text credentials with Ansible Vault encrypted blocks (</a:t>
            </a:r>
            <a:r>
              <a:rPr sz="1420" dirty="0" err="1">
                <a:solidFill>
                  <a:srgbClr val="1D2B3C"/>
                </a:solidFill>
                <a:latin typeface="Aptos"/>
              </a:rPr>
              <a:t>VCCsecret</a:t>
            </a:r>
            <a:r>
              <a:rPr sz="1420" dirty="0">
                <a:solidFill>
                  <a:srgbClr val="1D2B3C"/>
                </a:solidFill>
                <a:latin typeface="Aptos"/>
              </a:rPr>
              <a:t>).</a:t>
            </a:r>
          </a:p>
        </p:txBody>
      </p:sp>
      <p:sp>
        <p:nvSpPr>
          <p:cNvPr id="14" name="CONTENT_visual_panel"/>
          <p:cNvSpPr/>
          <p:nvPr/>
        </p:nvSpPr>
        <p:spPr>
          <a:xfrm>
            <a:off x="6492240" y="1207008"/>
            <a:ext cx="489204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NTENT_visual_title"/>
          <p:cNvSpPr txBox="1"/>
          <p:nvPr/>
        </p:nvSpPr>
        <p:spPr>
          <a:xfrm>
            <a:off x="6784848" y="1444752"/>
            <a:ext cx="3977639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20" b="1">
                <a:solidFill>
                  <a:srgbClr val="60778F"/>
                </a:solidFill>
                <a:latin typeface="Aptos"/>
              </a:rPr>
              <a:t>From local setup to production behavior</a:t>
            </a:r>
          </a:p>
        </p:txBody>
      </p:sp>
      <p:sp>
        <p:nvSpPr>
          <p:cNvPr id="16" name="DECOR_step_line"/>
          <p:cNvSpPr/>
          <p:nvPr/>
        </p:nvSpPr>
        <p:spPr>
          <a:xfrm>
            <a:off x="6903720" y="2103120"/>
            <a:ext cx="3200400" cy="36576"/>
          </a:xfrm>
          <a:prstGeom prst="rect">
            <a:avLst/>
          </a:prstGeom>
          <a:solidFill>
            <a:srgbClr val="D5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NTENT_node"/>
          <p:cNvSpPr/>
          <p:nvPr/>
        </p:nvSpPr>
        <p:spPr>
          <a:xfrm>
            <a:off x="6784848" y="1920240"/>
            <a:ext cx="530352" cy="438912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00" b="1">
                <a:solidFill>
                  <a:srgbClr val="1D2B3C"/>
                </a:solidFill>
                <a:latin typeface="Aptos"/>
              </a:rPr>
              <a:t>01</a:t>
            </a:r>
          </a:p>
        </p:txBody>
      </p:sp>
      <p:sp>
        <p:nvSpPr>
          <p:cNvPr id="18" name="CONTENT_step_title"/>
          <p:cNvSpPr txBox="1"/>
          <p:nvPr/>
        </p:nvSpPr>
        <p:spPr>
          <a:xfrm>
            <a:off x="7543800" y="1911096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1D2B3C"/>
                </a:solidFill>
                <a:latin typeface="Aptos"/>
              </a:rPr>
              <a:t>Compose</a:t>
            </a:r>
          </a:p>
        </p:txBody>
      </p:sp>
      <p:sp>
        <p:nvSpPr>
          <p:cNvPr id="19" name="CONTENT_step_desc"/>
          <p:cNvSpPr txBox="1"/>
          <p:nvPr/>
        </p:nvSpPr>
        <p:spPr>
          <a:xfrm>
            <a:off x="7543800" y="2203704"/>
            <a:ext cx="22860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19" b="0">
                <a:solidFill>
                  <a:srgbClr val="60778F"/>
                </a:solidFill>
                <a:latin typeface="Aptos"/>
              </a:rPr>
              <a:t>local definition</a:t>
            </a:r>
          </a:p>
        </p:txBody>
      </p:sp>
      <p:sp>
        <p:nvSpPr>
          <p:cNvPr id="20" name="DECOR_step_line"/>
          <p:cNvSpPr/>
          <p:nvPr/>
        </p:nvSpPr>
        <p:spPr>
          <a:xfrm>
            <a:off x="6903720" y="3063240"/>
            <a:ext cx="3200400" cy="36576"/>
          </a:xfrm>
          <a:prstGeom prst="rect">
            <a:avLst/>
          </a:prstGeom>
          <a:solidFill>
            <a:srgbClr val="D5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ONTENT_node"/>
          <p:cNvSpPr/>
          <p:nvPr/>
        </p:nvSpPr>
        <p:spPr>
          <a:xfrm>
            <a:off x="6784848" y="2880360"/>
            <a:ext cx="530352" cy="438912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00" b="1">
                <a:solidFill>
                  <a:srgbClr val="1D2B3C"/>
                </a:solidFill>
                <a:latin typeface="Aptos"/>
              </a:rPr>
              <a:t>02</a:t>
            </a:r>
          </a:p>
        </p:txBody>
      </p:sp>
      <p:sp>
        <p:nvSpPr>
          <p:cNvPr id="22" name="CONTENT_step_title"/>
          <p:cNvSpPr txBox="1"/>
          <p:nvPr/>
        </p:nvSpPr>
        <p:spPr>
          <a:xfrm>
            <a:off x="7543800" y="2871216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1D2B3C"/>
                </a:solidFill>
                <a:latin typeface="Aptos"/>
              </a:rPr>
              <a:t>Swarm</a:t>
            </a:r>
          </a:p>
        </p:txBody>
      </p:sp>
      <p:sp>
        <p:nvSpPr>
          <p:cNvPr id="23" name="CONTENT_step_desc"/>
          <p:cNvSpPr txBox="1"/>
          <p:nvPr/>
        </p:nvSpPr>
        <p:spPr>
          <a:xfrm>
            <a:off x="7543800" y="3163824"/>
            <a:ext cx="22860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19" b="0">
                <a:solidFill>
                  <a:srgbClr val="60778F"/>
                </a:solidFill>
                <a:latin typeface="Aptos"/>
              </a:rPr>
              <a:t>replicas + placement</a:t>
            </a:r>
          </a:p>
        </p:txBody>
      </p:sp>
      <p:sp>
        <p:nvSpPr>
          <p:cNvPr id="24" name="DECOR_step_line"/>
          <p:cNvSpPr/>
          <p:nvPr/>
        </p:nvSpPr>
        <p:spPr>
          <a:xfrm>
            <a:off x="6903720" y="4023360"/>
            <a:ext cx="3200400" cy="36576"/>
          </a:xfrm>
          <a:prstGeom prst="rect">
            <a:avLst/>
          </a:prstGeom>
          <a:solidFill>
            <a:srgbClr val="D5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ONTENT_node"/>
          <p:cNvSpPr/>
          <p:nvPr/>
        </p:nvSpPr>
        <p:spPr>
          <a:xfrm>
            <a:off x="6784848" y="3840480"/>
            <a:ext cx="530352" cy="438912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00" b="1">
                <a:solidFill>
                  <a:srgbClr val="1D2B3C"/>
                </a:solidFill>
                <a:latin typeface="Aptos"/>
              </a:rPr>
              <a:t>03</a:t>
            </a:r>
          </a:p>
        </p:txBody>
      </p:sp>
      <p:sp>
        <p:nvSpPr>
          <p:cNvPr id="26" name="CONTENT_step_title"/>
          <p:cNvSpPr txBox="1"/>
          <p:nvPr/>
        </p:nvSpPr>
        <p:spPr>
          <a:xfrm>
            <a:off x="7543800" y="3831336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1D2B3C"/>
                </a:solidFill>
                <a:latin typeface="Aptos"/>
              </a:rPr>
              <a:t>OIDC</a:t>
            </a:r>
          </a:p>
        </p:txBody>
      </p:sp>
      <p:sp>
        <p:nvSpPr>
          <p:cNvPr id="27" name="CONTENT_step_desc"/>
          <p:cNvSpPr txBox="1"/>
          <p:nvPr/>
        </p:nvSpPr>
        <p:spPr>
          <a:xfrm>
            <a:off x="7543800" y="4123944"/>
            <a:ext cx="22860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19" b="0">
                <a:solidFill>
                  <a:srgbClr val="60778F"/>
                </a:solidFill>
                <a:latin typeface="Aptos"/>
              </a:rPr>
              <a:t>SSO + identity</a:t>
            </a:r>
          </a:p>
        </p:txBody>
      </p:sp>
      <p:sp>
        <p:nvSpPr>
          <p:cNvPr id="28" name="DECOR_step_line"/>
          <p:cNvSpPr/>
          <p:nvPr/>
        </p:nvSpPr>
        <p:spPr>
          <a:xfrm>
            <a:off x="6903720" y="4983480"/>
            <a:ext cx="3200400" cy="36576"/>
          </a:xfrm>
          <a:prstGeom prst="rect">
            <a:avLst/>
          </a:prstGeom>
          <a:solidFill>
            <a:srgbClr val="D5D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ONTENT_node"/>
          <p:cNvSpPr/>
          <p:nvPr/>
        </p:nvSpPr>
        <p:spPr>
          <a:xfrm>
            <a:off x="6784848" y="4800600"/>
            <a:ext cx="530352" cy="438912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00" b="1">
                <a:solidFill>
                  <a:srgbClr val="1D2B3C"/>
                </a:solidFill>
                <a:latin typeface="Aptos"/>
              </a:rPr>
              <a:t>04</a:t>
            </a:r>
          </a:p>
        </p:txBody>
      </p:sp>
      <p:sp>
        <p:nvSpPr>
          <p:cNvPr id="30" name="CONTENT_step_title"/>
          <p:cNvSpPr txBox="1"/>
          <p:nvPr/>
        </p:nvSpPr>
        <p:spPr>
          <a:xfrm>
            <a:off x="7543800" y="4791456"/>
            <a:ext cx="1645920" cy="21945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50" b="1">
                <a:solidFill>
                  <a:srgbClr val="1D2B3C"/>
                </a:solidFill>
                <a:latin typeface="Aptos"/>
              </a:rPr>
              <a:t>Vault</a:t>
            </a:r>
          </a:p>
        </p:txBody>
      </p:sp>
      <p:sp>
        <p:nvSpPr>
          <p:cNvPr id="31" name="CONTENT_step_desc"/>
          <p:cNvSpPr txBox="1"/>
          <p:nvPr/>
        </p:nvSpPr>
        <p:spPr>
          <a:xfrm>
            <a:off x="7543800" y="5084064"/>
            <a:ext cx="22860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19" b="0">
                <a:solidFill>
                  <a:srgbClr val="60778F"/>
                </a:solidFill>
                <a:latin typeface="Aptos"/>
              </a:rPr>
              <a:t>encrypted secrets</a:t>
            </a:r>
          </a:p>
        </p:txBody>
      </p:sp>
      <p:sp>
        <p:nvSpPr>
          <p:cNvPr id="32" name="DECOR_vertical_accent"/>
          <p:cNvSpPr/>
          <p:nvPr/>
        </p:nvSpPr>
        <p:spPr>
          <a:xfrm>
            <a:off x="10149840" y="1947672"/>
            <a:ext cx="201168" cy="3291840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ONTENT_vertical_label"/>
          <p:cNvSpPr txBox="1"/>
          <p:nvPr/>
        </p:nvSpPr>
        <p:spPr>
          <a:xfrm>
            <a:off x="10442448" y="2862072"/>
            <a:ext cx="658368" cy="10058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000" b="1">
                <a:solidFill>
                  <a:srgbClr val="60778F"/>
                </a:solidFill>
                <a:latin typeface="Aptos"/>
              </a:rPr>
              <a:t>Production-grade
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header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accent_line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_section"/>
          <p:cNvSpPr txBox="1"/>
          <p:nvPr/>
        </p:nvSpPr>
        <p:spPr>
          <a:xfrm>
            <a:off x="566928" y="91440"/>
            <a:ext cx="17373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>
                <a:solidFill>
                  <a:srgbClr val="20C997"/>
                </a:solidFill>
                <a:latin typeface="Aptos"/>
              </a:rPr>
              <a:t>INTERESTING ISSUES</a:t>
            </a:r>
          </a:p>
        </p:txBody>
      </p:sp>
      <p:sp>
        <p:nvSpPr>
          <p:cNvPr id="6" name="CONTENT_title"/>
          <p:cNvSpPr txBox="1"/>
          <p:nvPr/>
        </p:nvSpPr>
        <p:spPr>
          <a:xfrm>
            <a:off x="566928" y="338328"/>
            <a:ext cx="740664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 Display"/>
              </a:rPr>
              <a:t>Debugging the Edge Cases</a:t>
            </a:r>
          </a:p>
        </p:txBody>
      </p:sp>
      <p:sp>
        <p:nvSpPr>
          <p:cNvPr id="8" name="CONTENT_slide_num"/>
          <p:cNvSpPr txBox="1"/>
          <p:nvPr/>
        </p:nvSpPr>
        <p:spPr>
          <a:xfrm>
            <a:off x="11475720" y="182880"/>
            <a:ext cx="3200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050" b="1">
                <a:solidFill>
                  <a:srgbClr val="20C997"/>
                </a:solidFill>
                <a:latin typeface="Aptos"/>
              </a:rPr>
              <a:t>04</a:t>
            </a:r>
          </a:p>
        </p:txBody>
      </p:sp>
      <p:sp>
        <p:nvSpPr>
          <p:cNvPr id="9" name="CONTENT_footer"/>
          <p:cNvSpPr txBox="1"/>
          <p:nvPr/>
        </p:nvSpPr>
        <p:spPr>
          <a:xfrm>
            <a:off x="566928" y="6556248"/>
            <a:ext cx="4114800" cy="1908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" b="0" dirty="0">
                <a:solidFill>
                  <a:srgbClr val="60778F"/>
                </a:solidFill>
                <a:latin typeface="Aptos"/>
              </a:rPr>
              <a:t>Virtual Cloud </a:t>
            </a:r>
            <a:r>
              <a:rPr lang="en-US" sz="880" b="0" dirty="0">
                <a:solidFill>
                  <a:srgbClr val="60778F"/>
                </a:solidFill>
                <a:latin typeface="Aptos"/>
              </a:rPr>
              <a:t>Computing</a:t>
            </a:r>
            <a:r>
              <a:rPr sz="880" b="0" dirty="0">
                <a:solidFill>
                  <a:srgbClr val="60778F"/>
                </a:solidFill>
                <a:latin typeface="Aptos"/>
              </a:rPr>
              <a:t> · Final Project</a:t>
            </a:r>
          </a:p>
        </p:txBody>
      </p:sp>
      <p:sp>
        <p:nvSpPr>
          <p:cNvPr id="10" name="CONTENT_footer_right"/>
          <p:cNvSpPr txBox="1"/>
          <p:nvPr/>
        </p:nvSpPr>
        <p:spPr>
          <a:xfrm>
            <a:off x="9235440" y="6556248"/>
            <a:ext cx="23317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80" b="0">
                <a:solidFill>
                  <a:srgbClr val="60778F"/>
                </a:solidFill>
                <a:latin typeface="Aptos"/>
              </a:rPr>
              <a:t>Università di Genova</a:t>
            </a:r>
          </a:p>
        </p:txBody>
      </p:sp>
      <p:sp>
        <p:nvSpPr>
          <p:cNvPr id="11" name="DECOR_label_line"/>
          <p:cNvSpPr/>
          <p:nvPr/>
        </p:nvSpPr>
        <p:spPr>
          <a:xfrm>
            <a:off x="566928" y="1088136"/>
            <a:ext cx="384048" cy="4114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TENT_label"/>
          <p:cNvSpPr txBox="1"/>
          <p:nvPr/>
        </p:nvSpPr>
        <p:spPr>
          <a:xfrm>
            <a:off x="1024128" y="1024128"/>
            <a:ext cx="23774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60" b="1">
                <a:solidFill>
                  <a:srgbClr val="60778F"/>
                </a:solidFill>
                <a:latin typeface="Aptos"/>
              </a:rPr>
              <a:t>SURPRISES DURING DEPLOYMENT</a:t>
            </a:r>
          </a:p>
        </p:txBody>
      </p:sp>
      <p:sp>
        <p:nvSpPr>
          <p:cNvPr id="13" name="CONTENT_bullets_slide4"/>
          <p:cNvSpPr txBox="1"/>
          <p:nvPr/>
        </p:nvSpPr>
        <p:spPr>
          <a:xfrm>
            <a:off x="566928" y="1371600"/>
            <a:ext cx="5532120" cy="2697480"/>
          </a:xfrm>
          <a:prstGeom prst="rect">
            <a:avLst/>
          </a:prstGeom>
          <a:noFill/>
        </p:spPr>
        <p:txBody>
          <a:bodyPr wrap="square" lIns="64008" tIns="18288" rIns="45720" bIns="18288">
            <a:normAutofit fontScale="92500" lnSpcReduction="10000"/>
          </a:bodyPr>
          <a:lstStyle/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45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50" b="1" dirty="0">
                <a:solidFill>
                  <a:srgbClr val="1D2B3C"/>
                </a:solidFill>
                <a:latin typeface="Aptos"/>
              </a:rPr>
              <a:t>Intel 13th/14th Gen VM Boot Hang: </a:t>
            </a:r>
            <a:r>
              <a:rPr sz="1450" dirty="0">
                <a:solidFill>
                  <a:srgbClr val="1D2B3C"/>
                </a:solidFill>
                <a:latin typeface="Aptos"/>
              </a:rPr>
              <a:t>target VM nodes froze during provisioning due to multi-thread scheduling conflicts. Fixed by limiting targets to 1 CPU core in the </a:t>
            </a:r>
            <a:r>
              <a:rPr sz="1450" dirty="0" err="1">
                <a:solidFill>
                  <a:srgbClr val="1D2B3C"/>
                </a:solidFill>
                <a:latin typeface="Aptos"/>
              </a:rPr>
              <a:t>Vagrantfile</a:t>
            </a:r>
            <a:r>
              <a:rPr sz="1450" dirty="0">
                <a:solidFill>
                  <a:srgbClr val="1D2B3C"/>
                </a:solidFill>
                <a:latin typeface="Aptos"/>
              </a:rPr>
              <a:t>.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sz="145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50" b="1" dirty="0" err="1">
                <a:solidFill>
                  <a:srgbClr val="1D2B3C"/>
                </a:solidFill>
                <a:latin typeface="Aptos"/>
              </a:rPr>
              <a:t>BusyBox</a:t>
            </a:r>
            <a:r>
              <a:rPr sz="1450" b="1" dirty="0">
                <a:solidFill>
                  <a:srgbClr val="1D2B3C"/>
                </a:solidFill>
                <a:latin typeface="Aptos"/>
              </a:rPr>
              <a:t> </a:t>
            </a:r>
            <a:r>
              <a:rPr sz="1450" b="1" dirty="0" err="1">
                <a:solidFill>
                  <a:srgbClr val="1D2B3C"/>
                </a:solidFill>
                <a:latin typeface="Aptos"/>
              </a:rPr>
              <a:t>nc</a:t>
            </a:r>
            <a:r>
              <a:rPr sz="1450" b="1" dirty="0">
                <a:solidFill>
                  <a:srgbClr val="1D2B3C"/>
                </a:solidFill>
                <a:latin typeface="Aptos"/>
              </a:rPr>
              <a:t> Flag Incompatibility: </a:t>
            </a:r>
            <a:r>
              <a:rPr sz="1450" dirty="0" err="1">
                <a:solidFill>
                  <a:srgbClr val="1D2B3C"/>
                </a:solidFill>
                <a:latin typeface="Aptos"/>
              </a:rPr>
              <a:t>Authelia</a:t>
            </a:r>
            <a:r>
              <a:rPr sz="1450" dirty="0">
                <a:solidFill>
                  <a:srgbClr val="1D2B3C"/>
                </a:solidFill>
                <a:latin typeface="Aptos"/>
              </a:rPr>
              <a:t> containers failed to wait for Postgres because </a:t>
            </a:r>
            <a:r>
              <a:rPr sz="1450" dirty="0" err="1">
                <a:solidFill>
                  <a:srgbClr val="1D2B3C"/>
                </a:solidFill>
                <a:latin typeface="Aptos"/>
              </a:rPr>
              <a:t>BusyBox</a:t>
            </a:r>
            <a:r>
              <a:rPr sz="1450" dirty="0">
                <a:solidFill>
                  <a:srgbClr val="1D2B3C"/>
                </a:solidFill>
                <a:latin typeface="Aptos"/>
              </a:rPr>
              <a:t> </a:t>
            </a:r>
            <a:r>
              <a:rPr sz="1450" dirty="0" err="1">
                <a:solidFill>
                  <a:srgbClr val="1D2B3C"/>
                </a:solidFill>
                <a:latin typeface="Aptos"/>
              </a:rPr>
              <a:t>netcat</a:t>
            </a:r>
            <a:r>
              <a:rPr sz="1450" dirty="0">
                <a:solidFill>
                  <a:srgbClr val="1D2B3C"/>
                </a:solidFill>
                <a:latin typeface="Aptos"/>
              </a:rPr>
              <a:t> does not support -z. Fixed by rewriting the loop using </a:t>
            </a:r>
            <a:r>
              <a:rPr sz="1450" dirty="0" err="1">
                <a:solidFill>
                  <a:srgbClr val="1D2B3C"/>
                </a:solidFill>
                <a:latin typeface="Aptos"/>
              </a:rPr>
              <a:t>nc</a:t>
            </a:r>
            <a:r>
              <a:rPr sz="1450" dirty="0">
                <a:solidFill>
                  <a:srgbClr val="1D2B3C"/>
                </a:solidFill>
                <a:latin typeface="Aptos"/>
              </a:rPr>
              <a:t> -w 1 with input redirection (&lt; /dev/null).</a:t>
            </a:r>
            <a:endParaRPr lang="en-US" sz="1450" dirty="0">
              <a:solidFill>
                <a:srgbClr val="1D2B3C"/>
              </a:solidFill>
              <a:latin typeface="Aptos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r>
              <a:rPr lang="en-US" sz="1450" dirty="0">
                <a:solidFill>
                  <a:srgbClr val="20C997"/>
                </a:solidFill>
                <a:latin typeface="Aptos"/>
              </a:rPr>
              <a:t>• </a:t>
            </a:r>
            <a:r>
              <a:rPr lang="en-US" sz="1450" b="1" dirty="0">
                <a:solidFill>
                  <a:srgbClr val="1D2B3C"/>
                </a:solidFill>
                <a:latin typeface="Aptos"/>
              </a:rPr>
              <a:t>Login failed with Auth in </a:t>
            </a:r>
            <a:r>
              <a:rPr lang="en-US" sz="1450" b="1">
                <a:solidFill>
                  <a:srgbClr val="1D2B3C"/>
                </a:solidFill>
                <a:latin typeface="Aptos"/>
              </a:rPr>
              <a:t>Grafana: </a:t>
            </a:r>
            <a:r>
              <a:rPr lang="en-US" sz="1450">
                <a:solidFill>
                  <a:srgbClr val="1D2B3C"/>
                </a:solidFill>
                <a:latin typeface="Aptos"/>
              </a:rPr>
              <a:t>Grafana </a:t>
            </a:r>
            <a:r>
              <a:rPr lang="en-US" sz="1450" dirty="0">
                <a:solidFill>
                  <a:srgbClr val="1D2B3C"/>
                </a:solidFill>
                <a:latin typeface="Aptos"/>
              </a:rPr>
              <a:t>logins failed due to a protocol mismatch where Grafana sent credentials via HTTP POST</a:t>
            </a:r>
          </a:p>
          <a:p>
            <a:pPr>
              <a:lnSpc>
                <a:spcPct val="104000"/>
              </a:lnSpc>
              <a:spcAft>
                <a:spcPts val="1200"/>
              </a:spcAft>
            </a:pPr>
            <a:br>
              <a:rPr lang="en-US" sz="1450" b="1" dirty="0">
                <a:solidFill>
                  <a:srgbClr val="1D2B3C"/>
                </a:solidFill>
                <a:latin typeface="Aptos"/>
              </a:rPr>
            </a:br>
            <a:endParaRPr lang="en-US" sz="1450" dirty="0">
              <a:solidFill>
                <a:srgbClr val="1D2B3C"/>
              </a:solidFill>
              <a:latin typeface="Aptos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endParaRPr lang="en-US" sz="1450" dirty="0">
              <a:solidFill>
                <a:srgbClr val="1D2B3C"/>
              </a:solidFill>
              <a:latin typeface="Aptos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endParaRPr lang="en-US" sz="1450" dirty="0">
              <a:solidFill>
                <a:srgbClr val="1D2B3C"/>
              </a:solidFill>
              <a:latin typeface="Aptos"/>
            </a:endParaRPr>
          </a:p>
          <a:p>
            <a:pPr>
              <a:lnSpc>
                <a:spcPct val="104000"/>
              </a:lnSpc>
              <a:spcAft>
                <a:spcPts val="1200"/>
              </a:spcAft>
            </a:pPr>
            <a:endParaRPr sz="1450" dirty="0">
              <a:solidFill>
                <a:srgbClr val="1D2B3C"/>
              </a:solidFill>
              <a:latin typeface="Aptos"/>
            </a:endParaRPr>
          </a:p>
        </p:txBody>
      </p:sp>
      <p:sp>
        <p:nvSpPr>
          <p:cNvPr id="14" name="CONTENT_visual_panel"/>
          <p:cNvSpPr/>
          <p:nvPr/>
        </p:nvSpPr>
        <p:spPr>
          <a:xfrm>
            <a:off x="566928" y="4270248"/>
            <a:ext cx="1092708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NTENT_visual_title"/>
          <p:cNvSpPr txBox="1"/>
          <p:nvPr/>
        </p:nvSpPr>
        <p:spPr>
          <a:xfrm>
            <a:off x="868680" y="4480560"/>
            <a:ext cx="26517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00" b="1">
                <a:solidFill>
                  <a:srgbClr val="60778F"/>
                </a:solidFill>
                <a:latin typeface="Aptos"/>
              </a:rPr>
              <a:t>Issue → Diagnosis → Robust Fix</a:t>
            </a:r>
          </a:p>
        </p:txBody>
      </p:sp>
      <p:cxnSp>
        <p:nvCxnSpPr>
          <p:cNvPr id="16" name="DECOR_connector"/>
          <p:cNvCxnSpPr/>
          <p:nvPr/>
        </p:nvCxnSpPr>
        <p:spPr>
          <a:xfrm>
            <a:off x="2880360" y="5074920"/>
            <a:ext cx="832103" cy="0"/>
          </a:xfrm>
          <a:prstGeom prst="line">
            <a:avLst/>
          </a:prstGeom>
          <a:ln w="13970">
            <a:solidFill>
              <a:srgbClr val="60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DECOR_connector"/>
          <p:cNvCxnSpPr/>
          <p:nvPr/>
        </p:nvCxnSpPr>
        <p:spPr>
          <a:xfrm>
            <a:off x="5852160" y="5074920"/>
            <a:ext cx="822960" cy="0"/>
          </a:xfrm>
          <a:prstGeom prst="line">
            <a:avLst/>
          </a:prstGeom>
          <a:ln w="13970">
            <a:solidFill>
              <a:srgbClr val="60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DECOR_connector"/>
          <p:cNvCxnSpPr/>
          <p:nvPr/>
        </p:nvCxnSpPr>
        <p:spPr>
          <a:xfrm>
            <a:off x="2880360" y="5760720"/>
            <a:ext cx="832103" cy="0"/>
          </a:xfrm>
          <a:prstGeom prst="line">
            <a:avLst/>
          </a:prstGeom>
          <a:ln w="13970">
            <a:solidFill>
              <a:srgbClr val="60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ECOR_connector"/>
          <p:cNvCxnSpPr/>
          <p:nvPr/>
        </p:nvCxnSpPr>
        <p:spPr>
          <a:xfrm>
            <a:off x="5852160" y="5760720"/>
            <a:ext cx="822960" cy="0"/>
          </a:xfrm>
          <a:prstGeom prst="line">
            <a:avLst/>
          </a:prstGeom>
          <a:ln w="13970">
            <a:solidFill>
              <a:srgbClr val="60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TENT_node"/>
          <p:cNvSpPr/>
          <p:nvPr/>
        </p:nvSpPr>
        <p:spPr>
          <a:xfrm>
            <a:off x="868680" y="4828032"/>
            <a:ext cx="1874519" cy="502920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DA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50" b="1">
                <a:solidFill>
                  <a:srgbClr val="1D2B3C"/>
                </a:solidFill>
                <a:latin typeface="Aptos"/>
              </a:rPr>
              <a:t>VM boot hang</a:t>
            </a:r>
          </a:p>
        </p:txBody>
      </p:sp>
      <p:sp>
        <p:nvSpPr>
          <p:cNvPr id="21" name="CONTENT_node"/>
          <p:cNvSpPr/>
          <p:nvPr/>
        </p:nvSpPr>
        <p:spPr>
          <a:xfrm>
            <a:off x="3840480" y="4791456"/>
            <a:ext cx="1874519" cy="566928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1">
                <a:solidFill>
                  <a:srgbClr val="1D2B3C"/>
                </a:solidFill>
                <a:latin typeface="Aptos"/>
              </a:rPr>
              <a:t>SMP scheduling
conflict</a:t>
            </a:r>
          </a:p>
        </p:txBody>
      </p:sp>
      <p:sp>
        <p:nvSpPr>
          <p:cNvPr id="22" name="CONTENT_node"/>
          <p:cNvSpPr/>
          <p:nvPr/>
        </p:nvSpPr>
        <p:spPr>
          <a:xfrm>
            <a:off x="6812280" y="4791456"/>
            <a:ext cx="1920240" cy="566928"/>
          </a:xfrm>
          <a:prstGeom prst="roundRect">
            <a:avLst/>
          </a:prstGeom>
          <a:solidFill>
            <a:srgbClr val="E6F8F2"/>
          </a:solidFill>
          <a:ln w="12700">
            <a:solidFill>
              <a:srgbClr val="45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1">
                <a:solidFill>
                  <a:srgbClr val="1D2B3C"/>
                </a:solidFill>
                <a:latin typeface="Aptos"/>
              </a:rPr>
              <a:t>Limit VM target
to 1 CPU</a:t>
            </a:r>
          </a:p>
        </p:txBody>
      </p:sp>
      <p:sp>
        <p:nvSpPr>
          <p:cNvPr id="23" name="CONTENT_node"/>
          <p:cNvSpPr/>
          <p:nvPr/>
        </p:nvSpPr>
        <p:spPr>
          <a:xfrm>
            <a:off x="868680" y="5513832"/>
            <a:ext cx="1874519" cy="502920"/>
          </a:xfrm>
          <a:prstGeom prst="roundRect">
            <a:avLst/>
          </a:prstGeom>
          <a:solidFill>
            <a:srgbClr val="FFF2F2"/>
          </a:solidFill>
          <a:ln w="12700">
            <a:solidFill>
              <a:srgbClr val="DA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50" b="1">
                <a:solidFill>
                  <a:srgbClr val="1D2B3C"/>
                </a:solidFill>
                <a:latin typeface="Aptos"/>
              </a:rPr>
              <a:t>nc -z fails</a:t>
            </a:r>
          </a:p>
        </p:txBody>
      </p:sp>
      <p:sp>
        <p:nvSpPr>
          <p:cNvPr id="24" name="CONTENT_node"/>
          <p:cNvSpPr/>
          <p:nvPr/>
        </p:nvSpPr>
        <p:spPr>
          <a:xfrm>
            <a:off x="3840480" y="5477256"/>
            <a:ext cx="1874519" cy="566928"/>
          </a:xfrm>
          <a:prstGeom prst="roundRect">
            <a:avLst/>
          </a:prstGeom>
          <a:solidFill>
            <a:srgbClr val="FFF8E5"/>
          </a:solidFill>
          <a:ln w="1270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1">
                <a:solidFill>
                  <a:srgbClr val="1D2B3C"/>
                </a:solidFill>
                <a:latin typeface="Aptos"/>
              </a:rPr>
              <a:t>BusyBox netcat
missing flag</a:t>
            </a:r>
          </a:p>
        </p:txBody>
      </p:sp>
      <p:sp>
        <p:nvSpPr>
          <p:cNvPr id="25" name="CONTENT_node"/>
          <p:cNvSpPr/>
          <p:nvPr/>
        </p:nvSpPr>
        <p:spPr>
          <a:xfrm>
            <a:off x="6812280" y="5477256"/>
            <a:ext cx="1920240" cy="566928"/>
          </a:xfrm>
          <a:prstGeom prst="roundRect">
            <a:avLst/>
          </a:prstGeom>
          <a:solidFill>
            <a:srgbClr val="E6F8F2"/>
          </a:solidFill>
          <a:ln w="12700">
            <a:solidFill>
              <a:srgbClr val="45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000" b="1">
                <a:solidFill>
                  <a:srgbClr val="1D2B3C"/>
                </a:solidFill>
                <a:latin typeface="Aptos"/>
              </a:rPr>
              <a:t>Use nc -w 1
&lt; /dev/null</a:t>
            </a:r>
          </a:p>
        </p:txBody>
      </p:sp>
      <p:sp>
        <p:nvSpPr>
          <p:cNvPr id="26" name="CONTENT_callout"/>
          <p:cNvSpPr txBox="1"/>
          <p:nvPr/>
        </p:nvSpPr>
        <p:spPr>
          <a:xfrm>
            <a:off x="9034272" y="5065776"/>
            <a:ext cx="2011680" cy="7498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80" b="0">
                <a:solidFill>
                  <a:srgbClr val="1D2B3C"/>
                </a:solidFill>
                <a:latin typeface="Aptos"/>
              </a:rPr>
              <a:t>These fixes improved provisioning reliability and container startup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header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accent_line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_section"/>
          <p:cNvSpPr txBox="1"/>
          <p:nvPr/>
        </p:nvSpPr>
        <p:spPr>
          <a:xfrm>
            <a:off x="566928" y="91440"/>
            <a:ext cx="17373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>
                <a:solidFill>
                  <a:srgbClr val="20C997"/>
                </a:solidFill>
                <a:latin typeface="Aptos"/>
              </a:rPr>
              <a:t>DEMO PREVIEW</a:t>
            </a:r>
          </a:p>
        </p:txBody>
      </p:sp>
      <p:sp>
        <p:nvSpPr>
          <p:cNvPr id="6" name="CONTENT_title"/>
          <p:cNvSpPr txBox="1"/>
          <p:nvPr/>
        </p:nvSpPr>
        <p:spPr>
          <a:xfrm>
            <a:off x="566928" y="338328"/>
            <a:ext cx="740664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 Display"/>
              </a:rPr>
              <a:t>Observability Correlation Workflow</a:t>
            </a:r>
          </a:p>
        </p:txBody>
      </p:sp>
      <p:sp>
        <p:nvSpPr>
          <p:cNvPr id="8" name="CONTENT_slide_num"/>
          <p:cNvSpPr txBox="1"/>
          <p:nvPr/>
        </p:nvSpPr>
        <p:spPr>
          <a:xfrm>
            <a:off x="11475720" y="182880"/>
            <a:ext cx="3200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050" b="1">
                <a:solidFill>
                  <a:srgbClr val="20C997"/>
                </a:solidFill>
                <a:latin typeface="Aptos"/>
              </a:rPr>
              <a:t>05</a:t>
            </a:r>
          </a:p>
        </p:txBody>
      </p:sp>
      <p:sp>
        <p:nvSpPr>
          <p:cNvPr id="9" name="CONTENT_footer"/>
          <p:cNvSpPr txBox="1"/>
          <p:nvPr/>
        </p:nvSpPr>
        <p:spPr>
          <a:xfrm>
            <a:off x="566928" y="6556248"/>
            <a:ext cx="4114800" cy="1908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" b="0" dirty="0">
                <a:solidFill>
                  <a:srgbClr val="60778F"/>
                </a:solidFill>
                <a:latin typeface="Aptos"/>
              </a:rPr>
              <a:t>Virtual Cloud </a:t>
            </a:r>
            <a:r>
              <a:rPr lang="en-US" sz="880" b="0" dirty="0">
                <a:solidFill>
                  <a:srgbClr val="60778F"/>
                </a:solidFill>
                <a:latin typeface="Aptos"/>
              </a:rPr>
              <a:t>Computing</a:t>
            </a:r>
            <a:r>
              <a:rPr sz="880" b="0" dirty="0">
                <a:solidFill>
                  <a:srgbClr val="60778F"/>
                </a:solidFill>
                <a:latin typeface="Aptos"/>
              </a:rPr>
              <a:t> · Final Project</a:t>
            </a:r>
          </a:p>
        </p:txBody>
      </p:sp>
      <p:sp>
        <p:nvSpPr>
          <p:cNvPr id="10" name="CONTENT_footer_right"/>
          <p:cNvSpPr txBox="1"/>
          <p:nvPr/>
        </p:nvSpPr>
        <p:spPr>
          <a:xfrm>
            <a:off x="9235440" y="6556248"/>
            <a:ext cx="23317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80" b="0">
                <a:solidFill>
                  <a:srgbClr val="60778F"/>
                </a:solidFill>
                <a:latin typeface="Aptos"/>
              </a:rPr>
              <a:t>Università di Genova</a:t>
            </a:r>
          </a:p>
        </p:txBody>
      </p:sp>
      <p:sp>
        <p:nvSpPr>
          <p:cNvPr id="11" name="DECOR_label_line"/>
          <p:cNvSpPr/>
          <p:nvPr/>
        </p:nvSpPr>
        <p:spPr>
          <a:xfrm>
            <a:off x="566928" y="1088136"/>
            <a:ext cx="384048" cy="4114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TENT_label"/>
          <p:cNvSpPr txBox="1"/>
          <p:nvPr/>
        </p:nvSpPr>
        <p:spPr>
          <a:xfrm>
            <a:off x="1024128" y="1024128"/>
            <a:ext cx="23774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60" b="1">
                <a:solidFill>
                  <a:srgbClr val="60778F"/>
                </a:solidFill>
                <a:latin typeface="Aptos"/>
              </a:rPr>
              <a:t>METRIC + LOG CORRELATION</a:t>
            </a:r>
          </a:p>
        </p:txBody>
      </p:sp>
      <p:sp>
        <p:nvSpPr>
          <p:cNvPr id="13" name="CONTENT_bullets_slide5"/>
          <p:cNvSpPr txBox="1"/>
          <p:nvPr/>
        </p:nvSpPr>
        <p:spPr>
          <a:xfrm>
            <a:off x="566928" y="1371600"/>
            <a:ext cx="5349240" cy="3886200"/>
          </a:xfrm>
          <a:prstGeom prst="rect">
            <a:avLst/>
          </a:prstGeom>
          <a:noFill/>
        </p:spPr>
        <p:txBody>
          <a:bodyPr wrap="square" lIns="64008" tIns="18288" rIns="45720" bIns="18288">
            <a:normAutofit/>
          </a:bodyPr>
          <a:lstStyle/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80">
                <a:solidFill>
                  <a:srgbClr val="20C997"/>
                </a:solidFill>
                <a:latin typeface="Aptos"/>
              </a:rPr>
              <a:t>• </a:t>
            </a:r>
            <a:r>
              <a:rPr sz="1480" b="1">
                <a:solidFill>
                  <a:srgbClr val="1D2B3C"/>
                </a:solidFill>
                <a:latin typeface="Aptos"/>
              </a:rPr>
              <a:t>The Setup: </a:t>
            </a:r>
            <a:r>
              <a:rPr sz="1480">
                <a:solidFill>
                  <a:srgbClr val="1D2B3C"/>
                </a:solidFill>
                <a:latin typeface="Aptos"/>
              </a:rPr>
              <a:t>Created a custom Troubleshooting Dashboard in Grafana combining a Prometheus metric panel and a Loki log panel.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80">
                <a:solidFill>
                  <a:srgbClr val="20C997"/>
                </a:solidFill>
                <a:latin typeface="Aptos"/>
              </a:rPr>
              <a:t>• </a:t>
            </a:r>
            <a:r>
              <a:rPr sz="1480" b="1">
                <a:solidFill>
                  <a:srgbClr val="1D2B3C"/>
                </a:solidFill>
                <a:latin typeface="Aptos"/>
              </a:rPr>
              <a:t>The Correlation: </a:t>
            </a:r>
            <a:r>
              <a:rPr sz="1480">
                <a:solidFill>
                  <a:srgbClr val="1D2B3C"/>
                </a:solidFill>
                <a:latin typeface="Aptos"/>
              </a:rPr>
              <a:t>Used http_load.py on the host to simulate 1,000 HTTP requests targeting Forgejo.</a:t>
            </a:r>
          </a:p>
          <a:p>
            <a:pPr>
              <a:lnSpc>
                <a:spcPct val="104000"/>
              </a:lnSpc>
              <a:spcAft>
                <a:spcPts val="1000"/>
              </a:spcAft>
            </a:pPr>
            <a:r>
              <a:rPr sz="1480">
                <a:solidFill>
                  <a:srgbClr val="20C997"/>
                </a:solidFill>
                <a:latin typeface="Aptos"/>
              </a:rPr>
              <a:t>• </a:t>
            </a:r>
            <a:r>
              <a:rPr sz="1480" b="1">
                <a:solidFill>
                  <a:srgbClr val="1D2B3C"/>
                </a:solidFill>
                <a:latin typeface="Aptos"/>
              </a:rPr>
              <a:t>The Result: </a:t>
            </a:r>
            <a:r>
              <a:rPr sz="1480">
                <a:solidFill>
                  <a:srgbClr val="1D2B3C"/>
                </a:solidFill>
                <a:latin typeface="Aptos"/>
              </a:rPr>
              <a:t>The request rate chart spikes dynamically; selecting the spike window filters Loki logs to show corresponding status entries.</a:t>
            </a:r>
          </a:p>
        </p:txBody>
      </p:sp>
      <p:sp>
        <p:nvSpPr>
          <p:cNvPr id="14" name="CONTENT_visual_panel"/>
          <p:cNvSpPr/>
          <p:nvPr/>
        </p:nvSpPr>
        <p:spPr>
          <a:xfrm>
            <a:off x="6355080" y="1152144"/>
            <a:ext cx="507492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NTENT_visual_title"/>
          <p:cNvSpPr txBox="1"/>
          <p:nvPr/>
        </p:nvSpPr>
        <p:spPr>
          <a:xfrm>
            <a:off x="6629400" y="1371600"/>
            <a:ext cx="25603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20" b="1">
                <a:solidFill>
                  <a:srgbClr val="60778F"/>
                </a:solidFill>
                <a:latin typeface="Aptos"/>
              </a:rPr>
              <a:t>Troubleshooting dashboard</a:t>
            </a:r>
          </a:p>
        </p:txBody>
      </p:sp>
      <p:sp>
        <p:nvSpPr>
          <p:cNvPr id="16" name="CONTENT_chart_panel"/>
          <p:cNvSpPr/>
          <p:nvPr/>
        </p:nvSpPr>
        <p:spPr>
          <a:xfrm>
            <a:off x="6629400" y="1764792"/>
            <a:ext cx="4526280" cy="192024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ONTENT_chart_title"/>
          <p:cNvSpPr txBox="1"/>
          <p:nvPr/>
        </p:nvSpPr>
        <p:spPr>
          <a:xfrm>
            <a:off x="6839712" y="1920240"/>
            <a:ext cx="1874519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900" b="1">
                <a:solidFill>
                  <a:srgbClr val="60778F"/>
                </a:solidFill>
                <a:latin typeface="Aptos"/>
              </a:rPr>
              <a:t>Prometheus request rate</a:t>
            </a:r>
          </a:p>
        </p:txBody>
      </p:sp>
      <p:cxnSp>
        <p:nvCxnSpPr>
          <p:cNvPr id="18" name="DECOR_axis"/>
          <p:cNvCxnSpPr/>
          <p:nvPr/>
        </p:nvCxnSpPr>
        <p:spPr>
          <a:xfrm>
            <a:off x="6876288" y="3291840"/>
            <a:ext cx="3840480" cy="0"/>
          </a:xfrm>
          <a:prstGeom prst="line">
            <a:avLst/>
          </a:prstGeom>
          <a:ln w="12700">
            <a:solidFill>
              <a:srgbClr val="D5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DECOR_axis"/>
          <p:cNvCxnSpPr/>
          <p:nvPr/>
        </p:nvCxnSpPr>
        <p:spPr>
          <a:xfrm>
            <a:off x="6903720" y="2304288"/>
            <a:ext cx="0" cy="987552"/>
          </a:xfrm>
          <a:prstGeom prst="line">
            <a:avLst/>
          </a:prstGeom>
          <a:ln w="12700">
            <a:solidFill>
              <a:srgbClr val="D5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DECOR_chart_line"/>
          <p:cNvCxnSpPr/>
          <p:nvPr/>
        </p:nvCxnSpPr>
        <p:spPr>
          <a:xfrm flipV="1">
            <a:off x="6995160" y="3072384"/>
            <a:ext cx="502919" cy="54864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DECOR_chart_line"/>
          <p:cNvCxnSpPr/>
          <p:nvPr/>
        </p:nvCxnSpPr>
        <p:spPr>
          <a:xfrm>
            <a:off x="7498079" y="3072384"/>
            <a:ext cx="502921" cy="18288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DECOR_chart_line"/>
          <p:cNvCxnSpPr/>
          <p:nvPr/>
        </p:nvCxnSpPr>
        <p:spPr>
          <a:xfrm flipV="1">
            <a:off x="8001000" y="2423160"/>
            <a:ext cx="457200" cy="66751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DECOR_chart_line"/>
          <p:cNvCxnSpPr/>
          <p:nvPr/>
        </p:nvCxnSpPr>
        <p:spPr>
          <a:xfrm flipV="1">
            <a:off x="8458200" y="1965960"/>
            <a:ext cx="274320" cy="457200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DECOR_chart_line"/>
          <p:cNvCxnSpPr/>
          <p:nvPr/>
        </p:nvCxnSpPr>
        <p:spPr>
          <a:xfrm>
            <a:off x="8732520" y="1965960"/>
            <a:ext cx="320040" cy="57607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DECOR_chart_line"/>
          <p:cNvCxnSpPr/>
          <p:nvPr/>
        </p:nvCxnSpPr>
        <p:spPr>
          <a:xfrm>
            <a:off x="9052560" y="2542032"/>
            <a:ext cx="548640" cy="429768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DECOR_chart_line"/>
          <p:cNvCxnSpPr/>
          <p:nvPr/>
        </p:nvCxnSpPr>
        <p:spPr>
          <a:xfrm>
            <a:off x="9601200" y="2971800"/>
            <a:ext cx="548640" cy="54864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DECOR_chart_line"/>
          <p:cNvCxnSpPr/>
          <p:nvPr/>
        </p:nvCxnSpPr>
        <p:spPr>
          <a:xfrm>
            <a:off x="10149840" y="3026664"/>
            <a:ext cx="438912" cy="2743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ECOR_spike_window"/>
          <p:cNvSpPr/>
          <p:nvPr/>
        </p:nvSpPr>
        <p:spPr>
          <a:xfrm>
            <a:off x="8366760" y="1828800"/>
            <a:ext cx="868680" cy="1463040"/>
          </a:xfrm>
          <a:prstGeom prst="rect">
            <a:avLst/>
          </a:prstGeom>
          <a:solidFill>
            <a:srgbClr val="E0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DECOR_chart_line"/>
          <p:cNvCxnSpPr/>
          <p:nvPr/>
        </p:nvCxnSpPr>
        <p:spPr>
          <a:xfrm flipV="1">
            <a:off x="6995160" y="3072384"/>
            <a:ext cx="502919" cy="54864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DECOR_chart_line"/>
          <p:cNvCxnSpPr/>
          <p:nvPr/>
        </p:nvCxnSpPr>
        <p:spPr>
          <a:xfrm>
            <a:off x="7498079" y="3072384"/>
            <a:ext cx="502921" cy="18288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DECOR_chart_line"/>
          <p:cNvCxnSpPr/>
          <p:nvPr/>
        </p:nvCxnSpPr>
        <p:spPr>
          <a:xfrm flipV="1">
            <a:off x="8001000" y="2423160"/>
            <a:ext cx="457200" cy="66751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DECOR_chart_line"/>
          <p:cNvCxnSpPr/>
          <p:nvPr/>
        </p:nvCxnSpPr>
        <p:spPr>
          <a:xfrm flipV="1">
            <a:off x="8458200" y="1965960"/>
            <a:ext cx="274320" cy="457200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DECOR_chart_line"/>
          <p:cNvCxnSpPr/>
          <p:nvPr/>
        </p:nvCxnSpPr>
        <p:spPr>
          <a:xfrm>
            <a:off x="8732520" y="1965960"/>
            <a:ext cx="320040" cy="57607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DECOR_chart_line"/>
          <p:cNvCxnSpPr/>
          <p:nvPr/>
        </p:nvCxnSpPr>
        <p:spPr>
          <a:xfrm>
            <a:off x="9052560" y="2542032"/>
            <a:ext cx="548640" cy="429768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DECOR_chart_line"/>
          <p:cNvCxnSpPr/>
          <p:nvPr/>
        </p:nvCxnSpPr>
        <p:spPr>
          <a:xfrm>
            <a:off x="9601200" y="2971800"/>
            <a:ext cx="548640" cy="54864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DECOR_chart_line"/>
          <p:cNvCxnSpPr/>
          <p:nvPr/>
        </p:nvCxnSpPr>
        <p:spPr>
          <a:xfrm>
            <a:off x="10149840" y="3026664"/>
            <a:ext cx="438912" cy="27432"/>
          </a:xfrm>
          <a:prstGeom prst="line">
            <a:avLst/>
          </a:prstGeom>
          <a:ln w="29209">
            <a:solidFill>
              <a:srgbClr val="20C9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TENT_spike_label"/>
          <p:cNvSpPr txBox="1"/>
          <p:nvPr/>
        </p:nvSpPr>
        <p:spPr>
          <a:xfrm>
            <a:off x="8321040" y="1627632"/>
            <a:ext cx="960120" cy="14630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740" b="1">
                <a:solidFill>
                  <a:srgbClr val="20C997"/>
                </a:solidFill>
                <a:latin typeface="Aptos"/>
              </a:rPr>
              <a:t>traffic burst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9A00FBB-FCB7-CC00-FFA5-FA11331F2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1" y="4005072"/>
            <a:ext cx="4526280" cy="12329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ECOR_header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ECOR_accent_line"/>
          <p:cNvSpPr/>
          <p:nvPr/>
        </p:nvSpPr>
        <p:spPr>
          <a:xfrm>
            <a:off x="0" y="667512"/>
            <a:ext cx="12191695" cy="45720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ONTENT_section"/>
          <p:cNvSpPr txBox="1"/>
          <p:nvPr/>
        </p:nvSpPr>
        <p:spPr>
          <a:xfrm>
            <a:off x="566928" y="91440"/>
            <a:ext cx="17373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00" b="1">
                <a:solidFill>
                  <a:srgbClr val="20C997"/>
                </a:solidFill>
                <a:latin typeface="Aptos"/>
              </a:rPr>
              <a:t>POSSIBLE IMPROVEMENTS</a:t>
            </a:r>
          </a:p>
        </p:txBody>
      </p:sp>
      <p:sp>
        <p:nvSpPr>
          <p:cNvPr id="6" name="CONTENT_title"/>
          <p:cNvSpPr txBox="1"/>
          <p:nvPr/>
        </p:nvSpPr>
        <p:spPr>
          <a:xfrm>
            <a:off x="566928" y="338328"/>
            <a:ext cx="7406640" cy="32918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Aptos Display"/>
              </a:rPr>
              <a:t>Scaling &amp; Future Roadmap</a:t>
            </a:r>
          </a:p>
        </p:txBody>
      </p:sp>
      <p:sp>
        <p:nvSpPr>
          <p:cNvPr id="8" name="CONTENT_slide_num"/>
          <p:cNvSpPr txBox="1"/>
          <p:nvPr/>
        </p:nvSpPr>
        <p:spPr>
          <a:xfrm>
            <a:off x="11475720" y="182880"/>
            <a:ext cx="3200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1050" b="1">
                <a:solidFill>
                  <a:srgbClr val="20C997"/>
                </a:solidFill>
                <a:latin typeface="Aptos"/>
              </a:rPr>
              <a:t>06</a:t>
            </a:r>
          </a:p>
        </p:txBody>
      </p:sp>
      <p:sp>
        <p:nvSpPr>
          <p:cNvPr id="9" name="CONTENT_footer"/>
          <p:cNvSpPr txBox="1"/>
          <p:nvPr/>
        </p:nvSpPr>
        <p:spPr>
          <a:xfrm>
            <a:off x="566928" y="6556248"/>
            <a:ext cx="4114800" cy="1908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80" b="0" dirty="0">
                <a:solidFill>
                  <a:srgbClr val="60778F"/>
                </a:solidFill>
                <a:latin typeface="Aptos"/>
              </a:rPr>
              <a:t>Virtual Cloud </a:t>
            </a:r>
            <a:r>
              <a:rPr lang="en-US" sz="880" b="0" dirty="0">
                <a:solidFill>
                  <a:srgbClr val="60778F"/>
                </a:solidFill>
                <a:latin typeface="Aptos"/>
              </a:rPr>
              <a:t>Computing</a:t>
            </a:r>
            <a:r>
              <a:rPr sz="880" b="0" dirty="0">
                <a:solidFill>
                  <a:srgbClr val="60778F"/>
                </a:solidFill>
                <a:latin typeface="Aptos"/>
              </a:rPr>
              <a:t> · Final Project</a:t>
            </a:r>
          </a:p>
        </p:txBody>
      </p:sp>
      <p:sp>
        <p:nvSpPr>
          <p:cNvPr id="10" name="CONTENT_footer_right"/>
          <p:cNvSpPr txBox="1"/>
          <p:nvPr/>
        </p:nvSpPr>
        <p:spPr>
          <a:xfrm>
            <a:off x="9235440" y="6556248"/>
            <a:ext cx="233172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/>
            <a:r>
              <a:rPr sz="880" b="0">
                <a:solidFill>
                  <a:srgbClr val="60778F"/>
                </a:solidFill>
                <a:latin typeface="Aptos"/>
              </a:rPr>
              <a:t>Università di Genova</a:t>
            </a:r>
          </a:p>
        </p:txBody>
      </p:sp>
      <p:sp>
        <p:nvSpPr>
          <p:cNvPr id="11" name="DECOR_label_line"/>
          <p:cNvSpPr/>
          <p:nvPr/>
        </p:nvSpPr>
        <p:spPr>
          <a:xfrm>
            <a:off x="566928" y="1088136"/>
            <a:ext cx="384048" cy="4114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NTENT_label"/>
          <p:cNvSpPr txBox="1"/>
          <p:nvPr/>
        </p:nvSpPr>
        <p:spPr>
          <a:xfrm>
            <a:off x="1024128" y="1024128"/>
            <a:ext cx="237744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860" b="1">
                <a:solidFill>
                  <a:srgbClr val="60778F"/>
                </a:solidFill>
                <a:latin typeface="Aptos"/>
              </a:rPr>
              <a:t>FUTURE WORK</a:t>
            </a:r>
          </a:p>
        </p:txBody>
      </p:sp>
      <p:sp>
        <p:nvSpPr>
          <p:cNvPr id="13" name="CONTENT_bullets_slide6"/>
          <p:cNvSpPr txBox="1"/>
          <p:nvPr/>
        </p:nvSpPr>
        <p:spPr>
          <a:xfrm>
            <a:off x="566928" y="1325880"/>
            <a:ext cx="5715000" cy="4389120"/>
          </a:xfrm>
          <a:prstGeom prst="rect">
            <a:avLst/>
          </a:prstGeom>
          <a:noFill/>
        </p:spPr>
        <p:txBody>
          <a:bodyPr wrap="square" lIns="64008" tIns="18288" rIns="45720" bIns="18288">
            <a:norm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00" b="1" dirty="0">
                <a:solidFill>
                  <a:srgbClr val="1D2B3C"/>
                </a:solidFill>
                <a:latin typeface="Aptos"/>
              </a:rPr>
              <a:t>Zero-Trust Internal Network: </a:t>
            </a:r>
            <a:r>
              <a:rPr sz="1400" dirty="0">
                <a:solidFill>
                  <a:srgbClr val="1D2B3C"/>
                </a:solidFill>
                <a:latin typeface="Aptos"/>
              </a:rPr>
              <a:t>Enable IPSec encryption on the Swarm overlay network to secure container-to-container traffic.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400" dirty="0">
                <a:solidFill>
                  <a:srgbClr val="20C997"/>
                </a:solidFill>
                <a:latin typeface="Aptos"/>
              </a:rPr>
              <a:t>• </a:t>
            </a:r>
            <a:r>
              <a:rPr sz="1400" b="1" dirty="0">
                <a:solidFill>
                  <a:srgbClr val="1D2B3C"/>
                </a:solidFill>
                <a:latin typeface="Aptos"/>
              </a:rPr>
              <a:t>Automated Alerting: </a:t>
            </a:r>
            <a:r>
              <a:rPr sz="1400" dirty="0">
                <a:solidFill>
                  <a:srgbClr val="1D2B3C"/>
                </a:solidFill>
                <a:latin typeface="Aptos"/>
              </a:rPr>
              <a:t>Configure Prometheus </a:t>
            </a:r>
            <a:r>
              <a:rPr sz="1400" dirty="0" err="1">
                <a:solidFill>
                  <a:srgbClr val="1D2B3C"/>
                </a:solidFill>
                <a:latin typeface="Aptos"/>
              </a:rPr>
              <a:t>Alertmanager</a:t>
            </a:r>
            <a:r>
              <a:rPr sz="1400" dirty="0">
                <a:solidFill>
                  <a:srgbClr val="1D2B3C"/>
                </a:solidFill>
                <a:latin typeface="Aptos"/>
              </a:rPr>
              <a:t> for notifications when CPU exceeds 90% or services drop offline.</a:t>
            </a:r>
          </a:p>
        </p:txBody>
      </p:sp>
      <p:sp>
        <p:nvSpPr>
          <p:cNvPr id="14" name="CONTENT_visual_panel"/>
          <p:cNvSpPr/>
          <p:nvPr/>
        </p:nvSpPr>
        <p:spPr>
          <a:xfrm>
            <a:off x="6629400" y="1234440"/>
            <a:ext cx="4645152" cy="32080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CONTENT_visual_title"/>
          <p:cNvSpPr txBox="1"/>
          <p:nvPr/>
        </p:nvSpPr>
        <p:spPr>
          <a:xfrm>
            <a:off x="6912864" y="1463040"/>
            <a:ext cx="242316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120" b="1">
                <a:solidFill>
                  <a:srgbClr val="60778F"/>
                </a:solidFill>
                <a:latin typeface="Aptos"/>
              </a:rPr>
              <a:t>Architecture evolution</a:t>
            </a:r>
          </a:p>
        </p:txBody>
      </p:sp>
      <p:cxnSp>
        <p:nvCxnSpPr>
          <p:cNvPr id="16" name="DECOR_spine"/>
          <p:cNvCxnSpPr>
            <a:cxnSpLocks/>
          </p:cNvCxnSpPr>
          <p:nvPr/>
        </p:nvCxnSpPr>
        <p:spPr>
          <a:xfrm flipH="1">
            <a:off x="7200900" y="2039112"/>
            <a:ext cx="4572" cy="1389888"/>
          </a:xfrm>
          <a:prstGeom prst="line">
            <a:avLst/>
          </a:prstGeom>
          <a:ln w="25400">
            <a:solidFill>
              <a:srgbClr val="D5D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NTENT_node"/>
          <p:cNvSpPr/>
          <p:nvPr/>
        </p:nvSpPr>
        <p:spPr>
          <a:xfrm>
            <a:off x="6903720" y="1874519"/>
            <a:ext cx="594360" cy="475488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50" b="1">
                <a:solidFill>
                  <a:srgbClr val="1D2B3C"/>
                </a:solidFill>
                <a:latin typeface="Aptos"/>
              </a:rPr>
              <a:t>1</a:t>
            </a:r>
          </a:p>
        </p:txBody>
      </p:sp>
      <p:sp>
        <p:nvSpPr>
          <p:cNvPr id="20" name="CONTENT_node"/>
          <p:cNvSpPr/>
          <p:nvPr/>
        </p:nvSpPr>
        <p:spPr>
          <a:xfrm>
            <a:off x="6903720" y="2715768"/>
            <a:ext cx="594360" cy="475488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36576" rIns="82296" bIns="36576" rtlCol="0" anchor="ctr"/>
          <a:lstStyle/>
          <a:p>
            <a:pPr algn="ctr"/>
            <a:r>
              <a:rPr sz="1150" b="1">
                <a:solidFill>
                  <a:srgbClr val="1D2B3C"/>
                </a:solidFill>
                <a:latin typeface="Aptos"/>
              </a:rPr>
              <a:t>2</a:t>
            </a:r>
          </a:p>
        </p:txBody>
      </p:sp>
      <p:sp>
        <p:nvSpPr>
          <p:cNvPr id="24" name="CONTENT_road_title"/>
          <p:cNvSpPr txBox="1"/>
          <p:nvPr/>
        </p:nvSpPr>
        <p:spPr>
          <a:xfrm>
            <a:off x="7598663" y="1851658"/>
            <a:ext cx="2606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 dirty="0">
                <a:solidFill>
                  <a:srgbClr val="1D2B3C"/>
                </a:solidFill>
                <a:latin typeface="Aptos"/>
              </a:rPr>
              <a:t>Encrypted Overlay</a:t>
            </a:r>
          </a:p>
        </p:txBody>
      </p:sp>
      <p:sp>
        <p:nvSpPr>
          <p:cNvPr id="25" name="CONTENT_road_desc"/>
          <p:cNvSpPr txBox="1"/>
          <p:nvPr/>
        </p:nvSpPr>
        <p:spPr>
          <a:xfrm>
            <a:off x="7598663" y="2155699"/>
            <a:ext cx="25146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dirty="0">
                <a:solidFill>
                  <a:srgbClr val="60778F"/>
                </a:solidFill>
                <a:latin typeface="Aptos"/>
              </a:rPr>
              <a:t>IPSec on Swarm</a:t>
            </a:r>
          </a:p>
        </p:txBody>
      </p:sp>
      <p:sp>
        <p:nvSpPr>
          <p:cNvPr id="27" name="CONTENT_road_title"/>
          <p:cNvSpPr txBox="1"/>
          <p:nvPr/>
        </p:nvSpPr>
        <p:spPr>
          <a:xfrm>
            <a:off x="7598663" y="2716531"/>
            <a:ext cx="260604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 dirty="0">
                <a:solidFill>
                  <a:srgbClr val="1D2B3C"/>
                </a:solidFill>
                <a:latin typeface="Aptos"/>
              </a:rPr>
              <a:t>Alerting</a:t>
            </a:r>
          </a:p>
        </p:txBody>
      </p:sp>
      <p:sp>
        <p:nvSpPr>
          <p:cNvPr id="28" name="CONTENT_road_desc"/>
          <p:cNvSpPr txBox="1"/>
          <p:nvPr/>
        </p:nvSpPr>
        <p:spPr>
          <a:xfrm>
            <a:off x="7598663" y="2970276"/>
            <a:ext cx="2514600" cy="20116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000" b="0" dirty="0">
                <a:solidFill>
                  <a:srgbClr val="60778F"/>
                </a:solidFill>
                <a:latin typeface="Aptos"/>
              </a:rPr>
              <a:t>CPU + replica health</a:t>
            </a:r>
          </a:p>
        </p:txBody>
      </p:sp>
      <p:sp>
        <p:nvSpPr>
          <p:cNvPr id="29" name="DECOR_final_note"/>
          <p:cNvSpPr/>
          <p:nvPr/>
        </p:nvSpPr>
        <p:spPr>
          <a:xfrm>
            <a:off x="6963156" y="3600449"/>
            <a:ext cx="3977639" cy="475488"/>
          </a:xfrm>
          <a:prstGeom prst="roundRect">
            <a:avLst/>
          </a:prstGeom>
          <a:solidFill>
            <a:srgbClr val="E6F8F2"/>
          </a:solidFill>
          <a:ln w="12700">
            <a:solidFill>
              <a:srgbClr val="20C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CONTENT_final_text"/>
          <p:cNvSpPr txBox="1"/>
          <p:nvPr/>
        </p:nvSpPr>
        <p:spPr>
          <a:xfrm>
            <a:off x="7146035" y="3726180"/>
            <a:ext cx="361188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950" b="1" dirty="0">
                <a:solidFill>
                  <a:srgbClr val="1D2B3C"/>
                </a:solidFill>
                <a:latin typeface="Aptos"/>
              </a:rPr>
              <a:t>Goal: fewer single points of failure + faster incident response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COR_background">
            <a:extLst>
              <a:ext uri="{FF2B5EF4-FFF2-40B4-BE49-F238E27FC236}">
                <a16:creationId xmlns:a16="http://schemas.microsoft.com/office/drawing/2014/main" id="{E8FEE41F-87EB-C4F2-C999-B4376BD068E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tx1"/>
                </a:solidFill>
              </a:rPr>
              <a:t>Thank you</a:t>
            </a:r>
            <a:endParaRPr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6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609</Words>
  <Application>Microsoft Office PowerPoint</Application>
  <PresentationFormat>Widescreen</PresentationFormat>
  <Paragraphs>106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SOBHAN BAZOUBANDI</cp:lastModifiedBy>
  <cp:revision>5</cp:revision>
  <dcterms:created xsi:type="dcterms:W3CDTF">2013-01-27T09:14:16Z</dcterms:created>
  <dcterms:modified xsi:type="dcterms:W3CDTF">2026-06-10T04:14:25Z</dcterms:modified>
  <cp:category/>
</cp:coreProperties>
</file>